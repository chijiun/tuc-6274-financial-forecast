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2" r:id="rId7"/>
  </p:sldIdLst>
  <p:sldSz cx="12192000" cy="6858000"/>
  <p:notesSz cx="7315200" cy="96012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file-server\&#36001;&#21209;&#37096;\DATA\OBU_&#23376;&#20844;&#21496;&#24115;&#21209;&#34389;&#29702;\&#33891;&#20107;&#26371;&#35696;&#31243;\114\1112\&#27861;&#35498;&#26371;\114Q3%20tuc&#27861;&#35498;&#2637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file-server\&#36001;&#21209;&#37096;\DATA\OBU_&#23376;&#20844;&#21496;&#24115;&#21209;&#34389;&#29702;\&#33891;&#20107;&#26371;&#35696;&#31243;\114\1112\&#27861;&#35498;&#26371;\114Q3%20tuc&#27861;&#35498;&#2637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zh-TW" altLang="en-US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營業收入</a:t>
            </a:r>
            <a:r>
              <a:rPr lang="en-US" altLang="zh-TW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(%)</a:t>
            </a:r>
            <a:endParaRPr lang="zh-TW" altLang="en-US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'產品別 (2025 Y) (調整HDI後)'!$B$3</c:f>
              <c:strCache>
                <c:ptCount val="1"/>
                <c:pt idx="0">
                  <c:v>HSD-Low Loss (HSD-L)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8.0083555945300207E-3"/>
                  <c:y val="-4.60792541401484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6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3389037296865819E-3"/>
                  <c:y val="-8.447765669717317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7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3389037296865819E-3"/>
                  <c:y val="-4.60792541401484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8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5.338903729686581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9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5.3389037296865819E-3"/>
                  <c:y val="4.56838640635249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617-458F-92C3-4BF5247A163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'產品別 (2025 Y) (調整HDI後)'!$J$2:$T$2</c:f>
              <c:strCache>
                <c:ptCount val="11"/>
                <c:pt idx="0">
                  <c:v>1Q23</c:v>
                </c:pt>
                <c:pt idx="1">
                  <c:v>2Q23</c:v>
                </c:pt>
                <c:pt idx="2">
                  <c:v>3Q23</c:v>
                </c:pt>
                <c:pt idx="3">
                  <c:v> 4Q23 </c:v>
                </c:pt>
                <c:pt idx="4">
                  <c:v>1Q24</c:v>
                </c:pt>
                <c:pt idx="5">
                  <c:v>2Q24</c:v>
                </c:pt>
                <c:pt idx="6">
                  <c:v>3Q24</c:v>
                </c:pt>
                <c:pt idx="7">
                  <c:v>4Q24</c:v>
                </c:pt>
                <c:pt idx="8">
                  <c:v>1Q25</c:v>
                </c:pt>
                <c:pt idx="9">
                  <c:v>2Q25</c:v>
                </c:pt>
                <c:pt idx="10">
                  <c:v>3Q25</c:v>
                </c:pt>
              </c:strCache>
            </c:strRef>
          </c:cat>
          <c:val>
            <c:numRef>
              <c:f>'產品別 (2025 Y) (調整HDI後)'!$J$3:$T$3</c:f>
              <c:numCache>
                <c:formatCode>0%</c:formatCode>
                <c:ptCount val="11"/>
                <c:pt idx="0">
                  <c:v>0.4956643367317225</c:v>
                </c:pt>
                <c:pt idx="1">
                  <c:v>0.49416614530627373</c:v>
                </c:pt>
                <c:pt idx="2">
                  <c:v>0.55000000000000004</c:v>
                </c:pt>
                <c:pt idx="3">
                  <c:v>0.59</c:v>
                </c:pt>
                <c:pt idx="4">
                  <c:v>0.57999999999999996</c:v>
                </c:pt>
                <c:pt idx="5">
                  <c:v>0.62</c:v>
                </c:pt>
                <c:pt idx="6">
                  <c:v>0.63</c:v>
                </c:pt>
                <c:pt idx="7">
                  <c:v>0.66</c:v>
                </c:pt>
                <c:pt idx="8">
                  <c:v>0.62800986424808858</c:v>
                </c:pt>
                <c:pt idx="9">
                  <c:v>0.67</c:v>
                </c:pt>
                <c:pt idx="10">
                  <c:v>0.71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617-458F-92C3-4BF5247A1630}"/>
            </c:ext>
          </c:extLst>
        </c:ser>
        <c:ser>
          <c:idx val="1"/>
          <c:order val="1"/>
          <c:tx>
            <c:strRef>
              <c:f>'產品別 (2025 Y) (調整HDI後)'!$B$4</c:f>
              <c:strCache>
                <c:ptCount val="1"/>
                <c:pt idx="0">
                  <c:v>HSD-Non Low Loss (HSD-NL)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A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6694518648432419E-3"/>
                  <c:y val="4.22388283485865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B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3389037296865819E-3"/>
                  <c:y val="-4.22388283485865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C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2.6694518648433399E-3"/>
                  <c:y val="-4.223882834858658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5="http://schemas.microsoft.com/office/drawing/2012/chart" xmlns:c16="http://schemas.microsoft.com/office/drawing/2014/chart">
                <c:ext xmlns:c16="http://schemas.microsoft.com/office/drawing/2014/chart" uri="{C3380CC4-5D6E-409C-BE32-E72D297353CC}">
                  <c16:uniqueId val="{0000000D-B617-458F-92C3-4BF5247A163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'產品別 (2025 Y) (調整HDI後)'!$J$2:$T$2</c:f>
              <c:strCache>
                <c:ptCount val="11"/>
                <c:pt idx="0">
                  <c:v>1Q23</c:v>
                </c:pt>
                <c:pt idx="1">
                  <c:v>2Q23</c:v>
                </c:pt>
                <c:pt idx="2">
                  <c:v>3Q23</c:v>
                </c:pt>
                <c:pt idx="3">
                  <c:v> 4Q23 </c:v>
                </c:pt>
                <c:pt idx="4">
                  <c:v>1Q24</c:v>
                </c:pt>
                <c:pt idx="5">
                  <c:v>2Q24</c:v>
                </c:pt>
                <c:pt idx="6">
                  <c:v>3Q24</c:v>
                </c:pt>
                <c:pt idx="7">
                  <c:v>4Q24</c:v>
                </c:pt>
                <c:pt idx="8">
                  <c:v>1Q25</c:v>
                </c:pt>
                <c:pt idx="9">
                  <c:v>2Q25</c:v>
                </c:pt>
                <c:pt idx="10">
                  <c:v>3Q25</c:v>
                </c:pt>
              </c:strCache>
            </c:strRef>
          </c:cat>
          <c:val>
            <c:numRef>
              <c:f>'產品別 (2025 Y) (調整HDI後)'!$J$4:$T$4</c:f>
              <c:numCache>
                <c:formatCode>0%</c:formatCode>
                <c:ptCount val="11"/>
                <c:pt idx="0">
                  <c:v>0.3363250749034602</c:v>
                </c:pt>
                <c:pt idx="1">
                  <c:v>0.32575066117181772</c:v>
                </c:pt>
                <c:pt idx="2">
                  <c:v>0.28999999999999998</c:v>
                </c:pt>
                <c:pt idx="3">
                  <c:v>0.27</c:v>
                </c:pt>
                <c:pt idx="4">
                  <c:v>0.26</c:v>
                </c:pt>
                <c:pt idx="5">
                  <c:v>0.24</c:v>
                </c:pt>
                <c:pt idx="6">
                  <c:v>0.22000000000000003</c:v>
                </c:pt>
                <c:pt idx="7">
                  <c:v>0.2</c:v>
                </c:pt>
                <c:pt idx="8">
                  <c:v>0.21502100170989602</c:v>
                </c:pt>
                <c:pt idx="9">
                  <c:v>0.18000000000000002</c:v>
                </c:pt>
                <c:pt idx="10">
                  <c:v>0.13999999999999999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B617-458F-92C3-4BF5247A16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3780440"/>
        <c:axId val="133785952"/>
        <c:axId val="0"/>
      </c:bar3DChart>
      <c:catAx>
        <c:axId val="133780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33785952"/>
        <c:crosses val="autoZero"/>
        <c:auto val="1"/>
        <c:lblAlgn val="ctr"/>
        <c:lblOffset val="100"/>
        <c:noMultiLvlLbl val="0"/>
      </c:catAx>
      <c:valAx>
        <c:axId val="1337859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3378044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zh-TW" altLang="en-US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營業收入</a:t>
            </a:r>
            <a:r>
              <a:rPr lang="en-US" altLang="zh-TW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(%)</a:t>
            </a:r>
            <a:endParaRPr lang="zh-TW" altLang="en-US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'產品別 (2025 Y) (調整HDI後)'!$B$3</c:f>
              <c:strCache>
                <c:ptCount val="1"/>
                <c:pt idx="0">
                  <c:v>HSD-Low Loss (HSD-L)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5.3389037296866799E-3"/>
                  <c:y val="-8.447765669717317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D18-4427-901A-3F52F9BD3E7C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DD18-4427-901A-3F52F9BD3E7C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3389037296866799E-3"/>
                  <c:y val="-8.447765669717317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D18-4427-901A-3F52F9BD3E7C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'產品別 (2025 Y) (調整HDI後)'!$C$2:$M$2</c15:sqref>
                  </c15:fullRef>
                </c:ext>
              </c:extLst>
              <c:f>'產品別 (2025 Y) (調整HDI後)'!$D$2:$I$2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'產品別 (2025 Y) (調整HDI後)'!$C$3:$M$3</c15:sqref>
                  </c15:fullRef>
                </c:ext>
              </c:extLst>
              <c:f>'產品別 (2025 Y) (調整HDI後)'!$D$3:$I$3</c:f>
              <c:numCache>
                <c:formatCode>0%</c:formatCode>
                <c:ptCount val="6"/>
                <c:pt idx="0">
                  <c:v>0.37611046198150339</c:v>
                </c:pt>
                <c:pt idx="1">
                  <c:v>0.35</c:v>
                </c:pt>
                <c:pt idx="2">
                  <c:v>0.45269810080232875</c:v>
                </c:pt>
                <c:pt idx="3">
                  <c:v>0.53560270643294161</c:v>
                </c:pt>
                <c:pt idx="4">
                  <c:v>0.62703239273735589</c:v>
                </c:pt>
                <c:pt idx="5">
                  <c:v>0.6761401089329695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D18-4427-901A-3F52F9BD3E7C}"/>
            </c:ext>
            <c:ext xmlns:c15="http://schemas.microsoft.com/office/drawing/2012/chart" uri="{02D57815-91ED-43cb-92C2-25804820EDAC}">
              <c15:categoryFilterExceptions>
                <c15:categoryFilterException>
                  <c15:sqref>'[114Q3 tuc法說會.xlsx]產品別 (2025 Y) (調整HDI後)'!$J$3</c15:sqref>
                  <c15:dLbl>
                    <c:idx val="5"/>
                    <c:layout>
                      <c:manualLayout>
                        <c:x val="8.0083555945300207E-3"/>
                        <c:y val="-4.6079254140148421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1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(調整HDI後)'!$K$3</c15:sqref>
                  <c15:dLbl>
                    <c:idx val="5"/>
                    <c:layout>
                      <c:manualLayout>
                        <c:x val="5.3389037296865819E-3"/>
                        <c:y val="-8.4477656697173172E-17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2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(調整HDI後)'!$L$3</c15:sqref>
                  <c15:dLbl>
                    <c:idx val="5"/>
                    <c:layout>
                      <c:manualLayout>
                        <c:x val="5.3389037296865819E-3"/>
                        <c:y val="-4.6079254140148421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3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(調整HDI後)'!$M$3</c15:sqref>
                  <c15:dLbl>
                    <c:idx val="5"/>
                    <c:layout>
                      <c:manualLayout>
                        <c:x val="5.3389037296865819E-3"/>
                        <c:y val="0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4-95A3-48A8-8B36-07F44DEDF309}"/>
                      </c:ex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ser>
          <c:idx val="1"/>
          <c:order val="1"/>
          <c:tx>
            <c:strRef>
              <c:f>'產品別 (2025 Y) (調整HDI後)'!$B$4</c:f>
              <c:strCache>
                <c:ptCount val="1"/>
                <c:pt idx="0">
                  <c:v>HSD-Non Low Loss (HSD-NL)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DD18-4427-901A-3F52F9BD3E7C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DD18-4427-901A-3F52F9BD3E7C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'產品別 (2025 Y) (調整HDI後)'!$C$2:$M$2</c15:sqref>
                  </c15:fullRef>
                </c:ext>
              </c:extLst>
              <c:f>'產品別 (2025 Y) (調整HDI後)'!$D$2:$I$2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'產品別 (2025 Y) (調整HDI後)'!$C$4:$M$4</c15:sqref>
                  </c15:fullRef>
                </c:ext>
              </c:extLst>
              <c:f>'產品別 (2025 Y) (調整HDI後)'!$D$4:$I$4</c:f>
              <c:numCache>
                <c:formatCode>0%</c:formatCode>
                <c:ptCount val="6"/>
                <c:pt idx="0">
                  <c:v>0.47236253522507654</c:v>
                </c:pt>
                <c:pt idx="1">
                  <c:v>0.48</c:v>
                </c:pt>
                <c:pt idx="2">
                  <c:v>0.39097314393028715</c:v>
                </c:pt>
                <c:pt idx="3">
                  <c:v>0.30059664111898377</c:v>
                </c:pt>
                <c:pt idx="4">
                  <c:v>0.24299815293734703</c:v>
                </c:pt>
                <c:pt idx="5">
                  <c:v>0.2027881444832666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DD18-4427-901A-3F52F9BD3E7C}"/>
            </c:ext>
            <c:ext xmlns:c15="http://schemas.microsoft.com/office/drawing/2012/chart" uri="{02D57815-91ED-43cb-92C2-25804820EDAC}">
              <c15:categoryFilterExceptions>
                <c15:categoryFilterException>
                  <c15:sqref>'[114Q3 tuc法說會.xlsx]產品別 (2025 Y) (調整HDI後)'!$J$4</c15:sqref>
                  <c15:dLbl>
                    <c:idx val="5"/>
                    <c:layout>
                      <c:manualLayout>
                        <c:x val="2.6694518648433399E-3"/>
                        <c:y val="0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5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(調整HDI後)'!$K$4</c15:sqref>
                  <c15:dLbl>
                    <c:idx val="5"/>
                    <c:layout>
                      <c:manualLayout>
                        <c:x val="2.6694518648432419E-3"/>
                        <c:y val="4.2238828348586586E-17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6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(調整HDI後)'!$L$4</c15:sqref>
                  <c15:dLbl>
                    <c:idx val="5"/>
                    <c:layout>
                      <c:manualLayout>
                        <c:x val="5.3389037296865819E-3"/>
                        <c:y val="-4.2238828348586586E-17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7-95A3-48A8-8B36-07F44DEDF309}"/>
                      </c:ext>
                      <c:ext uri="{CE6537A1-D6FC-4f65-9D91-7224C49458BB}"/>
                    </c:extLst>
                  </c15:dLbl>
                </c15:categoryFilterException>
                <c15:categoryFilterException>
                  <c15:sqref>'[114Q3 tuc法說會.xlsx]產品別 (2025 Y) (調整HDI後)'!$M$4</c15:sqref>
                  <c15:dLbl>
                    <c:idx val="5"/>
                    <c:layout>
                      <c:manualLayout>
                        <c:x val="2.6694518648433399E-3"/>
                        <c:y val="-4.2238828348586586E-17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 xmlns:c16r2="http://schemas.microsoft.com/office/drawing/2015/06/chart" xmlns:c16="http://schemas.microsoft.com/office/drawing/2014/chart">
                      <c:ext xmlns:c16="http://schemas.microsoft.com/office/drawing/2014/chart" uri="{C3380CC4-5D6E-409C-BE32-E72D297353CC}">
                        <c16:uniqueId val="{00000008-95A3-48A8-8B36-07F44DEDF309}"/>
                      </c:ext>
                      <c:ext uri="{CE6537A1-D6FC-4f65-9D91-7224C49458BB}"/>
                    </c:extLst>
                  </c15:dLbl>
                </c15:categoryFilterException>
              </c15:categoryFilterExceptions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1916680"/>
        <c:axId val="131917064"/>
        <c:axId val="0"/>
      </c:bar3DChart>
      <c:catAx>
        <c:axId val="131916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31917064"/>
        <c:crosses val="autoZero"/>
        <c:auto val="1"/>
        <c:lblAlgn val="ctr"/>
        <c:lblOffset val="100"/>
        <c:noMultiLvlLbl val="0"/>
      </c:catAx>
      <c:valAx>
        <c:axId val="131917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3191668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96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03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28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73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64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27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58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0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18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96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89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19E16-3F82-4834-973E-97DE804C63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6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chart" Target="../charts/chart1.xml"/><Relationship Id="rId7" Type="http://schemas.openxmlformats.org/officeDocument/2006/relationships/image" Target="../media/image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chart" Target="../charts/chart2.xml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1183653" y="2815065"/>
            <a:ext cx="8235980" cy="1106148"/>
          </a:xfrm>
        </p:spPr>
        <p:txBody>
          <a:bodyPr>
            <a:noAutofit/>
          </a:bodyPr>
          <a:lstStyle/>
          <a:p>
            <a:pPr algn="l"/>
            <a:r>
              <a:rPr lang="en-US" altLang="zh-TW" sz="4800" b="1" dirty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r>
              <a:rPr lang="zh-TW" altLang="en-US" sz="4800" b="1" dirty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zh-TW" altLang="en-US" sz="4800" b="1" dirty="0" smtClean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第三季</a:t>
            </a:r>
            <a:r>
              <a:rPr lang="zh-TW" altLang="en-US" sz="4800" b="1" dirty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法人說明會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52399" y="4670406"/>
            <a:ext cx="4643470" cy="964413"/>
          </a:xfrm>
        </p:spPr>
        <p:txBody>
          <a:bodyPr/>
          <a:lstStyle/>
          <a:p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 </a:t>
            </a:r>
            <a:r>
              <a:rPr lang="en-US" altLang="zh-TW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11</a:t>
            </a:r>
            <a:r>
              <a:rPr lang="zh-TW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12</a:t>
            </a:r>
            <a:r>
              <a:rPr lang="zh-TW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endParaRPr lang="zh-TW" altLang="en-US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4" name="Picture 30" descr="ww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0937" y="5811384"/>
            <a:ext cx="935038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407893" y="6488971"/>
            <a:ext cx="3590365" cy="30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defRPr/>
            </a:pPr>
            <a:r>
              <a:rPr lang="en-US" altLang="zh-TW" sz="1050" dirty="0">
                <a:solidFill>
                  <a:srgbClr val="898989"/>
                </a:solidFill>
                <a:latin typeface="Arial" pitchFamily="34" charset="0"/>
                <a:ea typeface="新細明體" pitchFamily="18" charset="-120"/>
              </a:rPr>
              <a:t>Copyright © 2012 Taiwan Union Technology Corporation</a:t>
            </a:r>
            <a:endParaRPr lang="zh-TW" altLang="zh-TW" sz="1050" dirty="0">
              <a:solidFill>
                <a:srgbClr val="898989"/>
              </a:solidFill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7" name="群組 7"/>
          <p:cNvGrpSpPr>
            <a:grpSpLocks noChangeAspect="1"/>
          </p:cNvGrpSpPr>
          <p:nvPr/>
        </p:nvGrpSpPr>
        <p:grpSpPr bwMode="auto">
          <a:xfrm>
            <a:off x="10396312" y="3921213"/>
            <a:ext cx="1624072" cy="2843774"/>
            <a:chOff x="5213142" y="138090"/>
            <a:chExt cx="3741340" cy="6552270"/>
          </a:xfrm>
        </p:grpSpPr>
        <p:sp>
          <p:nvSpPr>
            <p:cNvPr id="28" name="橢圓 27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5" name="橢圓 34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6" name="橢圓 35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46" name="圖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582" y="1088095"/>
            <a:ext cx="3477746" cy="111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6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4078" y="359558"/>
            <a:ext cx="9492937" cy="613351"/>
          </a:xfrm>
        </p:spPr>
        <p:txBody>
          <a:bodyPr/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綜合損益表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6725" y="3420269"/>
            <a:ext cx="3638550" cy="1162050"/>
          </a:xfrm>
        </p:spPr>
      </p:pic>
      <p:sp>
        <p:nvSpPr>
          <p:cNvPr id="7" name="圓角矩形 6"/>
          <p:cNvSpPr/>
          <p:nvPr/>
        </p:nvSpPr>
        <p:spPr>
          <a:xfrm>
            <a:off x="694078" y="1375654"/>
            <a:ext cx="9637059" cy="4488926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26" name="矩形 25"/>
          <p:cNvSpPr/>
          <p:nvPr/>
        </p:nvSpPr>
        <p:spPr>
          <a:xfrm>
            <a:off x="694076" y="5895400"/>
            <a:ext cx="9637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日流通在外股數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為</a:t>
            </a:r>
            <a:r>
              <a:rPr lang="en-US" altLang="zh-TW" sz="1400" b="0" i="0" u="none" strike="noStrike" baseline="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278,066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仟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股</a:t>
            </a:r>
            <a:endParaRPr lang="en-US" altLang="zh-TW" sz="1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股東權益報酬率為以母公司股東平均股權計算的年化數據</a:t>
            </a:r>
            <a:endParaRPr lang="en-US" altLang="zh-TW" sz="1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8" name="內容版面配置區 4">
            <a:extLst>
              <a:ext uri="{FF2B5EF4-FFF2-40B4-BE49-F238E27FC236}">
                <a16:creationId xmlns:a16="http://schemas.microsoft.com/office/drawing/2014/main" xmlns="" id="{9CEF4C86-AAFF-4711-B75E-3696A66D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4486" y="1879762"/>
            <a:ext cx="8391357" cy="325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0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1" y="1963207"/>
            <a:ext cx="5276441" cy="3506101"/>
          </a:xfrm>
          <a:prstGeom prst="rect">
            <a:avLst/>
          </a:prstGeom>
        </p:spPr>
      </p:pic>
      <p:graphicFrame>
        <p:nvGraphicFramePr>
          <p:cNvPr id="24" name="圖表 23">
            <a:extLst>
              <a:ext uri="{FF2B5EF4-FFF2-40B4-BE49-F238E27FC236}">
                <a16:creationId xmlns:xdr="http://schemas.openxmlformats.org/drawingml/2006/spreadsheetDrawing" xmlns="" xmlns:a16="http://schemas.microsoft.com/office/drawing/2014/main" xmlns:lc="http://schemas.openxmlformats.org/drawingml/2006/lockedCanvas" id="{00000000-0008-0000-05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794265"/>
              </p:ext>
            </p:extLst>
          </p:nvPr>
        </p:nvGraphicFramePr>
        <p:xfrm>
          <a:off x="5132388" y="3778264"/>
          <a:ext cx="5682959" cy="2513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1151" y="304041"/>
            <a:ext cx="10515600" cy="674781"/>
          </a:xfrm>
        </p:spPr>
        <p:txBody>
          <a:bodyPr>
            <a:norm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zh-TW" altLang="en-US" sz="3600" b="1" dirty="0" smtClean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第三季</a:t>
            </a: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銅箔基板銷售分析 </a:t>
            </a:r>
            <a:r>
              <a:rPr lang="en-US" altLang="zh-TW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–</a:t>
            </a: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技術別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pSp>
        <p:nvGrpSpPr>
          <p:cNvPr id="27" name="群組 26"/>
          <p:cNvGrpSpPr>
            <a:grpSpLocks noChangeAspect="1"/>
          </p:cNvGrpSpPr>
          <p:nvPr/>
        </p:nvGrpSpPr>
        <p:grpSpPr bwMode="auto">
          <a:xfrm>
            <a:off x="10521968" y="4074929"/>
            <a:ext cx="1372335" cy="2628239"/>
            <a:chOff x="5213142" y="138090"/>
            <a:chExt cx="3741340" cy="6552270"/>
          </a:xfrm>
        </p:grpSpPr>
        <p:sp>
          <p:nvSpPr>
            <p:cNvPr id="44" name="橢圓 43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5" name="橢圓 44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7" name="橢圓 46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8" name="橢圓 47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5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9" name="橢圓 48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6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0" name="橢圓 49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1" name="橢圓 50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2" name="橢圓 51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3" name="橢圓 52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8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7" name="橢圓 56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8" name="橢圓 57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9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9" name="橢圓 58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29" name="內容版面配置區 4">
            <a:extLst>
              <a:ext uri="{FF2B5EF4-FFF2-40B4-BE49-F238E27FC236}">
                <a16:creationId xmlns:a16="http://schemas.microsoft.com/office/drawing/2014/main" xmlns="" id="{E4BFDB60-F9A7-4CC3-87AF-3A277734C7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graphicFrame>
        <p:nvGraphicFramePr>
          <p:cNvPr id="28" name="圖表 27">
            <a:extLst>
              <a:ext uri="{FF2B5EF4-FFF2-40B4-BE49-F238E27FC236}">
                <a16:creationId xmlns:lc="http://schemas.openxmlformats.org/drawingml/2006/lockedCanvas" xmlns:a16="http://schemas.microsoft.com/office/drawing/2014/main" xmlns="" xmlns:xdr="http://schemas.openxmlformats.org/drawingml/2006/spreadsheetDrawing" id="{00000000-0008-0000-05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585462"/>
              </p:ext>
            </p:extLst>
          </p:nvPr>
        </p:nvGraphicFramePr>
        <p:xfrm>
          <a:off x="4906178" y="1141225"/>
          <a:ext cx="5615790" cy="2636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32733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9902" y="424576"/>
            <a:ext cx="10515600" cy="674781"/>
          </a:xfrm>
        </p:spPr>
        <p:txBody>
          <a:bodyPr>
            <a:normAutofit/>
          </a:bodyPr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資產負債表及重要財務指標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809405" y="1180412"/>
            <a:ext cx="9336055" cy="4987305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872156" y="6205507"/>
            <a:ext cx="69924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2025</a:t>
            </a:r>
            <a:r>
              <a:rPr lang="zh-TW" altLang="en-US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日流通在外股數</a:t>
            </a:r>
            <a:r>
              <a:rPr lang="zh-TW" altLang="en-US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為</a:t>
            </a:r>
            <a:r>
              <a:rPr lang="en-US" altLang="zh-TW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278,066</a:t>
            </a:r>
            <a:r>
              <a:rPr lang="zh-TW" altLang="en-US" sz="1400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仟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股</a:t>
            </a:r>
            <a:endParaRPr lang="en-US" altLang="zh-TW" sz="14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資產生產力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年化營業收入淨額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平均不動產、廠房及設備淨額</a:t>
            </a:r>
            <a:endParaRPr lang="en-US" altLang="zh-TW" sz="1400" b="0" i="0" u="none" strike="noStrike" baseline="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3" y="1348012"/>
            <a:ext cx="7297257" cy="450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1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33334" y="529984"/>
            <a:ext cx="7384336" cy="674781"/>
          </a:xfrm>
        </p:spPr>
        <p:txBody>
          <a:bodyPr>
            <a:normAutofit/>
          </a:bodyPr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現金流量表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1333334" y="1394458"/>
            <a:ext cx="8274424" cy="3952322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333334" y="5401531"/>
            <a:ext cx="69924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*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自由現金流量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營運活動之現金流入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–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資本支出</a:t>
            </a:r>
            <a:endParaRPr lang="en-US" altLang="zh-TW" sz="1400" b="0" i="0" u="none" strike="noStrike" baseline="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1803" y="1834274"/>
            <a:ext cx="6872551" cy="31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3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0" descr="ww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0937" y="5811384"/>
            <a:ext cx="935038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407893" y="6488971"/>
            <a:ext cx="3590365" cy="30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defRPr/>
            </a:pPr>
            <a:r>
              <a:rPr lang="en-US" altLang="zh-TW" sz="1050" dirty="0">
                <a:solidFill>
                  <a:srgbClr val="898989"/>
                </a:solidFill>
                <a:latin typeface="Arial" pitchFamily="34" charset="0"/>
                <a:ea typeface="新細明體" pitchFamily="18" charset="-120"/>
              </a:rPr>
              <a:t>Copyright © 2012 Taiwan Union Technology Corporation</a:t>
            </a:r>
            <a:endParaRPr lang="zh-TW" altLang="zh-TW" sz="1050" dirty="0">
              <a:solidFill>
                <a:srgbClr val="898989"/>
              </a:solidFill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7" name="群組 7"/>
          <p:cNvGrpSpPr>
            <a:grpSpLocks noChangeAspect="1"/>
          </p:cNvGrpSpPr>
          <p:nvPr/>
        </p:nvGrpSpPr>
        <p:grpSpPr bwMode="auto">
          <a:xfrm>
            <a:off x="10396312" y="3921213"/>
            <a:ext cx="1624072" cy="2843774"/>
            <a:chOff x="5213142" y="138090"/>
            <a:chExt cx="3741340" cy="6552270"/>
          </a:xfrm>
        </p:grpSpPr>
        <p:sp>
          <p:nvSpPr>
            <p:cNvPr id="28" name="橢圓 27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5" name="橢圓 34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6" name="橢圓 35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46" name="圖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4646" y="2425778"/>
            <a:ext cx="4233311" cy="1352000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243669" y="2809224"/>
            <a:ext cx="4347882" cy="1111989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https://www.tuc.com.tw</a:t>
            </a:r>
          </a:p>
          <a:p>
            <a:r>
              <a:rPr lang="en-US" altLang="zh-TW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Ivon.Huang@tuc.com.tw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0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135</Words>
  <Application>Microsoft Office PowerPoint</Application>
  <PresentationFormat>寬螢幕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Arial Unicode MS</vt:lpstr>
      <vt:lpstr>微軟正黑體</vt:lpstr>
      <vt:lpstr>新細明體</vt:lpstr>
      <vt:lpstr>Arial</vt:lpstr>
      <vt:lpstr>Calibri</vt:lpstr>
      <vt:lpstr>Calibri Light</vt:lpstr>
      <vt:lpstr>Office 佈景主題</vt:lpstr>
      <vt:lpstr>2025年第三季法人說明會</vt:lpstr>
      <vt:lpstr>綜合損益表</vt:lpstr>
      <vt:lpstr>2025年第三季銅箔基板銷售分析 –技術別</vt:lpstr>
      <vt:lpstr>資產負債表及重要財務指標</vt:lpstr>
      <vt:lpstr>現金流量表</vt:lpstr>
      <vt:lpstr>PowerPoint 簡報</vt:lpstr>
    </vt:vector>
  </TitlesOfParts>
  <Company>TUC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Fourth Quarter Earnings Conference</dc:title>
  <dc:creator>Erin Wang (王彥婷)</dc:creator>
  <cp:lastModifiedBy>Mollie Ku (古玟玲)</cp:lastModifiedBy>
  <cp:revision>156</cp:revision>
  <cp:lastPrinted>2025-05-06T05:12:29Z</cp:lastPrinted>
  <dcterms:created xsi:type="dcterms:W3CDTF">2022-03-01T02:38:21Z</dcterms:created>
  <dcterms:modified xsi:type="dcterms:W3CDTF">2025-11-12T08:18:01Z</dcterms:modified>
</cp:coreProperties>
</file>