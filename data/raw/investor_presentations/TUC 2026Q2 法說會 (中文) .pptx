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9" r:id="rId5"/>
    <p:sldId id="260" r:id="rId6"/>
    <p:sldId id="262" r:id="rId7"/>
  </p:sldIdLst>
  <p:sldSz cx="12192000" cy="6858000"/>
  <p:notesSz cx="7315200" cy="96012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file-server\&#36001;&#21209;&#37096;\DATA\Q_&#33891;&#20107;&#26371;&#35696;&#20107;&#37636;\115&#24180;&#24230;&#33891;&#20107;&#26371;\20260729\&#31777;&#22577;&#32032;&#26448;\&#27861;&#35498;&#26371;\115Q2%20tuc&#27861;&#35498;&#26371;-&#29151;&#25910;&#21344;&#27604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___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3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zh-TW" altLang="en-US" sz="130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營業收入</a:t>
            </a:r>
            <a:r>
              <a:rPr lang="en-US" altLang="zh-TW" sz="130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 (%)</a:t>
            </a:r>
            <a:endParaRPr lang="zh-TW" altLang="en-US" sz="130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 Unicode MS" panose="020B0604020202020204" pitchFamily="34" charset="-12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30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PPT!$A$5</c:f>
              <c:strCache>
                <c:ptCount val="1"/>
                <c:pt idx="0">
                  <c:v>ELL &amp; SLL</c:v>
                </c:pt>
              </c:strCache>
            </c:strRef>
          </c:tx>
          <c:spPr>
            <a:solidFill>
              <a:srgbClr val="0000FF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5.338903729686679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B617-458F-92C3-4BF5247A1630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5.338903729686679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B617-458F-92C3-4BF5247A1630}"/>
                </c:ex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5.3389037296865819E-3"/>
                  <c:y val="4.568386406352491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B617-458F-92C3-4BF5247A1630}"/>
                </c:ext>
                <c:ext xmlns:c15="http://schemas.microsoft.com/office/drawing/2012/chart" uri="{CE6537A1-D6FC-4f65-9D91-7224C49458BB}"/>
              </c:extLst>
            </c:dLbl>
            <c:dLbl>
              <c:idx val="3"/>
              <c:layout>
                <c:manualLayout>
                  <c:x val="2.669451864843339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B617-458F-92C3-4BF5247A1630}"/>
                </c:ext>
                <c:ext xmlns:c15="http://schemas.microsoft.com/office/drawing/2012/chart" uri="{CE6537A1-D6FC-4f65-9D91-7224C49458BB}"/>
              </c:extLst>
            </c:dLbl>
            <c:dLbl>
              <c:idx val="5"/>
              <c:layout>
                <c:manualLayout>
                  <c:x val="5.655792897630376E-3"/>
                  <c:y val="-7.2219957645799554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0-D16F-4F22-B60D-022CD3E14235}"/>
                </c:ext>
                <c:ext xmlns:c15="http://schemas.microsoft.com/office/drawing/2012/chart" uri="{CE6537A1-D6FC-4f65-9D91-7224C49458BB}"/>
              </c:extLst>
            </c:dLbl>
            <c:dLbl>
              <c:idx val="6"/>
              <c:layout>
                <c:manualLayout>
                  <c:x val="3.7705285984202968E-3"/>
                  <c:y val="-7.2219957645799554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1-D16F-4F22-B60D-022CD3E14235}"/>
                </c:ext>
                <c:ext xmlns:c15="http://schemas.microsoft.com/office/drawing/2012/chart" uri="{CE6537A1-D6FC-4f65-9D91-7224C49458BB}"/>
              </c:extLst>
            </c:dLbl>
            <c:dLbl>
              <c:idx val="7"/>
              <c:layout>
                <c:manualLayout>
                  <c:x val="3.7705285984202968E-3"/>
                  <c:y val="-7.2219957645799554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2-D16F-4F22-B60D-022CD3E14235}"/>
                </c:ext>
                <c:ext xmlns:c15="http://schemas.microsoft.com/office/drawing/2012/chart" uri="{CE6537A1-D6FC-4f65-9D91-7224C49458BB}"/>
              </c:extLst>
            </c:dLbl>
            <c:dLbl>
              <c:idx val="8"/>
              <c:layout>
                <c:manualLayout>
                  <c:x val="3.7705285984202968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3-D16F-4F22-B60D-022CD3E14235}"/>
                </c:ext>
                <c:ext xmlns:c15="http://schemas.microsoft.com/office/drawing/2012/chart" uri="{CE6537A1-D6FC-4f65-9D91-7224C49458BB}"/>
              </c:extLst>
            </c:dLbl>
            <c:dLbl>
              <c:idx val="9"/>
              <c:layout>
                <c:manualLayout>
                  <c:x val="6.4863075919421335E-3"/>
                  <c:y val="-8.2002197585856638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PPT!$H$4:$Q$4</c:f>
              <c:strCache>
                <c:ptCount val="10"/>
                <c:pt idx="0">
                  <c:v>1Q24</c:v>
                </c:pt>
                <c:pt idx="1">
                  <c:v>2Q24</c:v>
                </c:pt>
                <c:pt idx="2">
                  <c:v>3Q24</c:v>
                </c:pt>
                <c:pt idx="3">
                  <c:v>4Q24</c:v>
                </c:pt>
                <c:pt idx="4">
                  <c:v>1Q25</c:v>
                </c:pt>
                <c:pt idx="5">
                  <c:v>2Q25</c:v>
                </c:pt>
                <c:pt idx="6">
                  <c:v>3Q25</c:v>
                </c:pt>
                <c:pt idx="7">
                  <c:v>4Q25</c:v>
                </c:pt>
                <c:pt idx="8">
                  <c:v>1Q26</c:v>
                </c:pt>
                <c:pt idx="9">
                  <c:v>2Q26</c:v>
                </c:pt>
              </c:strCache>
            </c:strRef>
          </c:cat>
          <c:val>
            <c:numRef>
              <c:f>PPT!$H$5:$Q$5</c:f>
              <c:numCache>
                <c:formatCode>0%</c:formatCode>
                <c:ptCount val="10"/>
                <c:pt idx="0">
                  <c:v>0.24419378852962362</c:v>
                </c:pt>
                <c:pt idx="1">
                  <c:v>0.29746173331842279</c:v>
                </c:pt>
                <c:pt idx="2">
                  <c:v>0.35403104386426776</c:v>
                </c:pt>
                <c:pt idx="3">
                  <c:v>0.34174747645708853</c:v>
                </c:pt>
                <c:pt idx="4">
                  <c:v>0.33293222773332037</c:v>
                </c:pt>
                <c:pt idx="5">
                  <c:v>0.36281557967677636</c:v>
                </c:pt>
                <c:pt idx="6">
                  <c:v>0.38436024013227371</c:v>
                </c:pt>
                <c:pt idx="7">
                  <c:v>0.35712901129073177</c:v>
                </c:pt>
                <c:pt idx="8">
                  <c:v>0.38360914299380383</c:v>
                </c:pt>
                <c:pt idx="9">
                  <c:v>0.39347726879231881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B617-458F-92C3-4BF5247A1630}"/>
            </c:ext>
          </c:extLst>
        </c:ser>
        <c:ser>
          <c:idx val="1"/>
          <c:order val="1"/>
          <c:tx>
            <c:strRef>
              <c:f>PPT!$A$6</c:f>
              <c:strCache>
                <c:ptCount val="1"/>
                <c:pt idx="0">
                  <c:v>VLL &amp; LL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9"/>
              <c:layout>
                <c:manualLayout>
                  <c:x val="-2.1621025306473775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ysClr val="windowText" lastClr="00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PPT!$H$4:$Q$4</c:f>
              <c:strCache>
                <c:ptCount val="10"/>
                <c:pt idx="0">
                  <c:v>1Q24</c:v>
                </c:pt>
                <c:pt idx="1">
                  <c:v>2Q24</c:v>
                </c:pt>
                <c:pt idx="2">
                  <c:v>3Q24</c:v>
                </c:pt>
                <c:pt idx="3">
                  <c:v>4Q24</c:v>
                </c:pt>
                <c:pt idx="4">
                  <c:v>1Q25</c:v>
                </c:pt>
                <c:pt idx="5">
                  <c:v>2Q25</c:v>
                </c:pt>
                <c:pt idx="6">
                  <c:v>3Q25</c:v>
                </c:pt>
                <c:pt idx="7">
                  <c:v>4Q25</c:v>
                </c:pt>
                <c:pt idx="8">
                  <c:v>1Q26</c:v>
                </c:pt>
                <c:pt idx="9">
                  <c:v>2Q26</c:v>
                </c:pt>
              </c:strCache>
            </c:strRef>
          </c:cat>
          <c:val>
            <c:numRef>
              <c:f>PPT!$H$6:$Q$6</c:f>
              <c:numCache>
                <c:formatCode>0%</c:formatCode>
                <c:ptCount val="10"/>
                <c:pt idx="0">
                  <c:v>0.33634687063027641</c:v>
                </c:pt>
                <c:pt idx="1">
                  <c:v>0.31652983646582139</c:v>
                </c:pt>
                <c:pt idx="2">
                  <c:v>0.28264488790850162</c:v>
                </c:pt>
                <c:pt idx="3">
                  <c:v>0.32003123985091186</c:v>
                </c:pt>
                <c:pt idx="4">
                  <c:v>0.29511550974582207</c:v>
                </c:pt>
                <c:pt idx="5">
                  <c:v>0.31535656820728841</c:v>
                </c:pt>
                <c:pt idx="6">
                  <c:v>0.32806545410973409</c:v>
                </c:pt>
                <c:pt idx="7">
                  <c:v>0.34066929647207567</c:v>
                </c:pt>
                <c:pt idx="8">
                  <c:v>0.3217310361603456</c:v>
                </c:pt>
                <c:pt idx="9">
                  <c:v>0.30646143219093219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5-B617-458F-92C3-4BF5247A163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26873064"/>
        <c:axId val="126811176"/>
        <c:axId val="0"/>
      </c:bar3DChart>
      <c:catAx>
        <c:axId val="1268730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26811176"/>
        <c:crosses val="autoZero"/>
        <c:auto val="1"/>
        <c:lblAlgn val="ctr"/>
        <c:lblOffset val="100"/>
        <c:noMultiLvlLbl val="0"/>
      </c:catAx>
      <c:valAx>
        <c:axId val="126811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2687306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/>
      </a:solidFill>
      <a:round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營業收入</a:t>
            </a:r>
            <a:r>
              <a:rPr lang="en-US" altLang="zh-TW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 Unicode MS" panose="020B0604020202020204" pitchFamily="34" charset="-120"/>
              </a:rPr>
              <a:t> (%)</a:t>
            </a:r>
            <a:endParaRPr lang="zh-TW" altLang="en-US" dirty="0">
              <a:solidFill>
                <a:sysClr val="windowText" lastClr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 Unicode MS" panose="020B0604020202020204" pitchFamily="34" charset="-12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PPT!$A$5</c:f>
              <c:strCache>
                <c:ptCount val="1"/>
                <c:pt idx="0">
                  <c:v>ELL &amp; SLL</c:v>
                </c:pt>
              </c:strCache>
            </c:strRef>
          </c:tx>
          <c:spPr>
            <a:solidFill>
              <a:srgbClr val="0000FF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5.338903729686679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 xmlns:c16="http://schemas.microsoft.com/office/drawing/2014/chart" xmlns:c15="http://schemas.microsoft.com/office/drawing/2012/chart">
                <c:ext xmlns:c16="http://schemas.microsoft.com/office/drawing/2014/chart" uri="{C3380CC4-5D6E-409C-BE32-E72D297353CC}">
                  <c16:uniqueId val="{00000002-DD18-4427-901A-3F52F9BD3E7C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5.3389037296866799E-3"/>
                  <c:y val="-8.4477656697173172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 xmlns:c16="http://schemas.microsoft.com/office/drawing/2014/chart" xmlns:c15="http://schemas.microsoft.com/office/drawing/2012/chart">
                <c:ext xmlns:c16="http://schemas.microsoft.com/office/drawing/2014/chart" uri="{C3380CC4-5D6E-409C-BE32-E72D297353CC}">
                  <c16:uniqueId val="{00000003-DD18-4427-901A-3F52F9BD3E7C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bg1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PPT!$B$4:$F$4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PPT!$B$5:$F$5</c:f>
              <c:numCache>
                <c:formatCode>0%</c:formatCode>
                <c:ptCount val="5"/>
                <c:pt idx="0">
                  <c:v>9.8156463923841614E-2</c:v>
                </c:pt>
                <c:pt idx="1">
                  <c:v>0.13812622199566799</c:v>
                </c:pt>
                <c:pt idx="2">
                  <c:v>0.22475135581728481</c:v>
                </c:pt>
                <c:pt idx="3">
                  <c:v>0.31572771225671364</c:v>
                </c:pt>
                <c:pt idx="4">
                  <c:v>0.36060175474259337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DD18-4427-901A-3F52F9BD3E7C}"/>
            </c:ext>
          </c:extLst>
        </c:ser>
        <c:ser>
          <c:idx val="1"/>
          <c:order val="1"/>
          <c:tx>
            <c:strRef>
              <c:f>PPT!$A$6</c:f>
              <c:strCache>
                <c:ptCount val="1"/>
                <c:pt idx="0">
                  <c:v>VLL &amp; LL</c:v>
                </c:pt>
              </c:strCache>
            </c:strRef>
          </c:tx>
          <c:spPr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2.669451864843339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 xmlns:c16="http://schemas.microsoft.com/office/drawing/2014/chart" xmlns:c15="http://schemas.microsoft.com/office/drawing/2012/chart">
                <c:ext xmlns:c16="http://schemas.microsoft.com/office/drawing/2014/chart" uri="{C3380CC4-5D6E-409C-BE32-E72D297353CC}">
                  <c16:uniqueId val="{00000005-DD18-4427-901A-3F52F9BD3E7C}"/>
                </c:ex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2.669451864843339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 xmlns:c16r2="http://schemas.microsoft.com/office/drawing/2015/06/chart" xmlns:c16="http://schemas.microsoft.com/office/drawing/2014/chart" xmlns:c15="http://schemas.microsoft.com/office/drawing/2012/chart">
                <c:ext xmlns:c16="http://schemas.microsoft.com/office/drawing/2014/chart" uri="{C3380CC4-5D6E-409C-BE32-E72D297353CC}">
                  <c16:uniqueId val="{00000006-DD18-4427-901A-3F52F9BD3E7C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ysClr val="windowText" lastClr="00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+mn-cs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PPT!$B$4:$F$4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PPT!$B$6:$F$6</c:f>
              <c:numCache>
                <c:formatCode>0%</c:formatCode>
                <c:ptCount val="5"/>
                <c:pt idx="0">
                  <c:v>0.24869653349197371</c:v>
                </c:pt>
                <c:pt idx="1">
                  <c:v>0.31471006600852425</c:v>
                </c:pt>
                <c:pt idx="2">
                  <c:v>0.31126628567446901</c:v>
                </c:pt>
                <c:pt idx="3">
                  <c:v>0.31148185215153523</c:v>
                </c:pt>
                <c:pt idx="4">
                  <c:v>0.32222285160472053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7-DD18-4427-901A-3F52F9BD3E7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93776400"/>
        <c:axId val="123254000"/>
        <c:axId val="0"/>
      </c:bar3DChart>
      <c:catAx>
        <c:axId val="1937764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23254000"/>
        <c:crosses val="autoZero"/>
        <c:auto val="1"/>
        <c:lblAlgn val="ctr"/>
        <c:lblOffset val="100"/>
        <c:noMultiLvlLbl val="0"/>
      </c:catAx>
      <c:valAx>
        <c:axId val="1232540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pPr>
            <a:endParaRPr lang="zh-TW"/>
          </a:p>
        </c:txPr>
        <c:crossAx val="193776400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/>
      </a:solidFill>
      <a:round/>
    </a:ln>
    <a:effectLst/>
  </c:spPr>
  <c:txPr>
    <a:bodyPr/>
    <a:lstStyle/>
    <a:p>
      <a:pPr>
        <a:defRPr/>
      </a:pPr>
      <a:endParaRPr lang="zh-TW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3.0481331007902335E-2"/>
          <c:y val="7.0001009458258351E-2"/>
          <c:w val="0.95304172534529141"/>
          <c:h val="0.92117508814482674"/>
        </c:manualLayout>
      </c:layout>
      <c:pie3DChart>
        <c:varyColors val="1"/>
        <c:ser>
          <c:idx val="0"/>
          <c:order val="0"/>
          <c:dPt>
            <c:idx val="0"/>
            <c:bubble3D val="0"/>
            <c:spPr>
              <a:solidFill>
                <a:srgbClr val="0000FF"/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7E53-421C-A56B-BEC290E5E8EA}"/>
              </c:ext>
            </c:extLst>
          </c:dPt>
          <c:dPt>
            <c:idx val="1"/>
            <c:bubble3D val="0"/>
            <c:spPr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7E53-421C-A56B-BEC290E5E8EA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7E53-421C-A56B-BEC290E5E8EA}"/>
              </c:ext>
            </c:extLst>
          </c:dPt>
          <c:dPt>
            <c:idx val="3"/>
            <c:bubble3D val="0"/>
            <c:spPr>
              <a:gradFill rotWithShape="1">
                <a:gsLst>
                  <a:gs pos="0">
                    <a:schemeClr val="accent4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4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4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p3d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7E53-421C-A56B-BEC290E5E8EA}"/>
              </c:ext>
            </c:extLst>
          </c:dPt>
          <c:dLbls>
            <c:dLbl>
              <c:idx val="0"/>
              <c:layout>
                <c:manualLayout>
                  <c:x val="-0.13404621275619741"/>
                  <c:y val="0.1062526015225820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Arial Unicode MS" panose="020B0604020202020204" pitchFamily="34" charset="-120"/>
                    </a:defRPr>
                  </a:pPr>
                  <a:endParaRPr lang="zh-TW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948529841133001"/>
                      <c:h val="0.13739464598530945"/>
                    </c:manualLayout>
                  </c15:layout>
                </c:ext>
              </c:extLst>
            </c:dLbl>
            <c:dLbl>
              <c:idx val="1"/>
              <c:layout>
                <c:manualLayout>
                  <c:x val="0.22688791258461122"/>
                  <c:y val="-0.36188778949102829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bg1"/>
                      </a:solidFill>
                      <a:latin typeface="微軟正黑體" panose="020B0604030504040204" pitchFamily="34" charset="-120"/>
                      <a:ea typeface="微軟正黑體" panose="020B0604030504040204" pitchFamily="34" charset="-120"/>
                      <a:cs typeface="Arial Unicode MS" panose="020B0604020202020204" pitchFamily="34" charset="-120"/>
                    </a:defRPr>
                  </a:pPr>
                  <a:endParaRPr lang="zh-TW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692498155487249"/>
                      <c:h val="0.14925830532865636"/>
                    </c:manualLayout>
                  </c15:layout>
                </c:ext>
              </c:extLst>
            </c:dLbl>
            <c:dLbl>
              <c:idx val="2"/>
              <c:layout>
                <c:manualLayout>
                  <c:x val="0.1111701700712346"/>
                  <c:y val="2.9115978645830619E-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5-7E53-421C-A56B-BEC290E5E8EA}"/>
                </c:ext>
                <c:ext xmlns:c15="http://schemas.microsoft.com/office/drawing/2012/chart" uri="{CE6537A1-D6FC-4f65-9D91-7224C49458BB}">
                  <c15:layout>
                    <c:manualLayout>
                      <c:w val="0.24530018218840424"/>
                      <c:h val="0.14925838515916151"/>
                    </c:manualLayout>
                  </c15:layout>
                </c:ext>
              </c:extLst>
            </c:dLbl>
            <c:dLbl>
              <c:idx val="3"/>
              <c:layout>
                <c:manualLayout>
                  <c:x val="0.14900211105977842"/>
                  <c:y val="0.11870916167478672"/>
                </c:manualLayout>
              </c:layout>
              <c:dLblPos val="bestFit"/>
              <c:showLegendKey val="0"/>
              <c:showVal val="1"/>
              <c:showCatName val="1"/>
              <c:showSerName val="0"/>
              <c:showPercent val="0"/>
              <c:showBubbleSize val="0"/>
              <c:extLst xmlns:c16r2="http://schemas.microsoft.com/office/drawing/2015/06/chart">
                <c:ext xmlns:c16="http://schemas.microsoft.com/office/drawing/2014/chart" uri="{C3380CC4-5D6E-409C-BE32-E72D297353CC}">
                  <c16:uniqueId val="{00000007-7E53-421C-A56B-BEC290E5E8EA}"/>
                </c:ex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Arial Unicode MS" panose="020B0604020202020204" pitchFamily="34" charset="-120"/>
                  </a:defRPr>
                </a:pPr>
                <a:endParaRPr lang="zh-TW"/>
              </a:p>
            </c:txPr>
            <c:dLblPos val="inEnd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/>
            </c:extLst>
          </c:dLbls>
          <c:cat>
            <c:strRef>
              <c:f>PPT!$A$5:$A$8</c:f>
              <c:strCache>
                <c:ptCount val="4"/>
                <c:pt idx="0">
                  <c:v>ELL &amp; SLL</c:v>
                </c:pt>
                <c:pt idx="1">
                  <c:v>VLL &amp; LL</c:v>
                </c:pt>
                <c:pt idx="2">
                  <c:v>HDI &amp; N-LL</c:v>
                </c:pt>
                <c:pt idx="3">
                  <c:v>Others</c:v>
                </c:pt>
              </c:strCache>
            </c:strRef>
          </c:cat>
          <c:val>
            <c:numRef>
              <c:f>PPT!$B$25:$B$28</c:f>
              <c:numCache>
                <c:formatCode>0%</c:formatCode>
                <c:ptCount val="4"/>
                <c:pt idx="0">
                  <c:v>0.39347726879231881</c:v>
                </c:pt>
                <c:pt idx="1">
                  <c:v>0.30646143219093219</c:v>
                </c:pt>
                <c:pt idx="2">
                  <c:v>0.15690476589317418</c:v>
                </c:pt>
                <c:pt idx="3">
                  <c:v>0.14315653312357482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8-7E53-421C-A56B-BEC290E5E8EA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bg1"/>
      </a:solidFill>
      <a:round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4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9E16-3F82-4834-973E-97DE804C6302}" type="datetimeFigureOut">
              <a:rPr lang="zh-TW" altLang="en-US" smtClean="0"/>
              <a:t>2026/07/24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5B3-2648-457D-BC6F-0ECE67727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4966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9E16-3F82-4834-973E-97DE804C6302}" type="datetimeFigureOut">
              <a:rPr lang="zh-TW" altLang="en-US" smtClean="0"/>
              <a:t>2026/07/24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5B3-2648-457D-BC6F-0ECE67727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1033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9E16-3F82-4834-973E-97DE804C6302}" type="datetimeFigureOut">
              <a:rPr lang="zh-TW" altLang="en-US" smtClean="0"/>
              <a:t>2026/07/24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5B3-2648-457D-BC6F-0ECE67727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5287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9E16-3F82-4834-973E-97DE804C6302}" type="datetimeFigureOut">
              <a:rPr lang="zh-TW" altLang="en-US" smtClean="0"/>
              <a:t>2026/07/24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5B3-2648-457D-BC6F-0ECE67727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6732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9E16-3F82-4834-973E-97DE804C6302}" type="datetimeFigureOut">
              <a:rPr lang="zh-TW" altLang="en-US" smtClean="0"/>
              <a:t>2026/07/24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5B3-2648-457D-BC6F-0ECE67727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89648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9E16-3F82-4834-973E-97DE804C6302}" type="datetimeFigureOut">
              <a:rPr lang="zh-TW" altLang="en-US" smtClean="0"/>
              <a:t>2026/07/24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5B3-2648-457D-BC6F-0ECE67727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8271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9E16-3F82-4834-973E-97DE804C6302}" type="datetimeFigureOut">
              <a:rPr lang="zh-TW" altLang="en-US" smtClean="0"/>
              <a:t>2026/07/24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5B3-2648-457D-BC6F-0ECE67727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3582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9E16-3F82-4834-973E-97DE804C6302}" type="datetimeFigureOut">
              <a:rPr lang="zh-TW" altLang="en-US" smtClean="0"/>
              <a:t>2026/07/24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5B3-2648-457D-BC6F-0ECE67727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7406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9E16-3F82-4834-973E-97DE804C6302}" type="datetimeFigureOut">
              <a:rPr lang="zh-TW" altLang="en-US" smtClean="0"/>
              <a:t>2026/07/24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5B3-2648-457D-BC6F-0ECE67727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8183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9E16-3F82-4834-973E-97DE804C6302}" type="datetimeFigureOut">
              <a:rPr lang="zh-TW" altLang="en-US" smtClean="0"/>
              <a:t>2026/07/24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5B3-2648-457D-BC6F-0ECE67727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1967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19E16-3F82-4834-973E-97DE804C6302}" type="datetimeFigureOut">
              <a:rPr lang="zh-TW" altLang="en-US" smtClean="0"/>
              <a:t>2026/07/24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5C5B3-2648-457D-BC6F-0ECE67727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8899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F19E16-3F82-4834-973E-97DE804C6302}" type="datetimeFigureOut">
              <a:rPr lang="zh-TW" altLang="en-US" smtClean="0"/>
              <a:t>2026/07/24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B5C5B3-2648-457D-BC6F-0ECE67727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1693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11" Type="http://schemas.openxmlformats.org/officeDocument/2006/relationships/chart" Target="../charts/chart3.xml"/><Relationship Id="rId5" Type="http://schemas.openxmlformats.org/officeDocument/2006/relationships/image" Target="../media/image4.jpeg"/><Relationship Id="rId10" Type="http://schemas.openxmlformats.org/officeDocument/2006/relationships/chart" Target="../charts/chart2.xml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ctrTitle"/>
          </p:nvPr>
        </p:nvSpPr>
        <p:spPr>
          <a:xfrm>
            <a:off x="1183653" y="2815065"/>
            <a:ext cx="8235980" cy="1106148"/>
          </a:xfrm>
        </p:spPr>
        <p:txBody>
          <a:bodyPr>
            <a:noAutofit/>
          </a:bodyPr>
          <a:lstStyle/>
          <a:p>
            <a:pPr algn="l"/>
            <a:r>
              <a:rPr lang="en-US" altLang="zh-TW" sz="4800" b="1" dirty="0" smtClean="0">
                <a:solidFill>
                  <a:srgbClr val="CC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</a:t>
            </a:r>
            <a:r>
              <a:rPr lang="zh-TW" altLang="en-US" sz="4800" b="1" dirty="0" smtClean="0">
                <a:solidFill>
                  <a:srgbClr val="CC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年第二季</a:t>
            </a:r>
            <a:r>
              <a:rPr lang="zh-TW" altLang="en-US" sz="4800" b="1" dirty="0">
                <a:solidFill>
                  <a:srgbClr val="CC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法人說明會</a:t>
            </a:r>
          </a:p>
        </p:txBody>
      </p:sp>
      <p:sp>
        <p:nvSpPr>
          <p:cNvPr id="5" name="副標題 2"/>
          <p:cNvSpPr>
            <a:spLocks noGrp="1"/>
          </p:cNvSpPr>
          <p:nvPr>
            <p:ph type="subTitle" idx="1"/>
          </p:nvPr>
        </p:nvSpPr>
        <p:spPr>
          <a:xfrm>
            <a:off x="152399" y="4670406"/>
            <a:ext cx="4643470" cy="964413"/>
          </a:xfrm>
        </p:spPr>
        <p:txBody>
          <a:bodyPr/>
          <a:lstStyle/>
          <a:p>
            <a:r>
              <a:rPr lang="en-US" altLang="zh-TW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</a:t>
            </a:r>
            <a:r>
              <a:rPr lang="zh-TW" altLang="en-US" b="1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</a:t>
            </a:r>
            <a:r>
              <a:rPr lang="en-US" altLang="zh-TW" b="1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07</a:t>
            </a:r>
            <a:r>
              <a:rPr lang="zh-TW" altLang="en-US" b="1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月</a:t>
            </a:r>
            <a:r>
              <a:rPr lang="en-US" altLang="zh-TW" b="1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29</a:t>
            </a:r>
            <a:r>
              <a:rPr lang="zh-TW" altLang="en-US" b="1" dirty="0" smtClean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日</a:t>
            </a:r>
            <a:endParaRPr lang="zh-TW" altLang="en-US" b="1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24" name="Picture 30" descr="www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30937" y="5811384"/>
            <a:ext cx="935038" cy="935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Text Box 2"/>
          <p:cNvSpPr txBox="1">
            <a:spLocks noChangeArrowheads="1"/>
          </p:cNvSpPr>
          <p:nvPr/>
        </p:nvSpPr>
        <p:spPr bwMode="auto">
          <a:xfrm>
            <a:off x="407893" y="6488971"/>
            <a:ext cx="3590365" cy="306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>
              <a:defRPr/>
            </a:pPr>
            <a:r>
              <a:rPr lang="en-US" altLang="zh-TW" sz="1050" dirty="0">
                <a:solidFill>
                  <a:srgbClr val="898989"/>
                </a:solidFill>
                <a:latin typeface="Arial" pitchFamily="34" charset="0"/>
                <a:ea typeface="新細明體" pitchFamily="18" charset="-120"/>
              </a:rPr>
              <a:t>Copyright © 2012 Taiwan Union Technology Corporation</a:t>
            </a:r>
            <a:endParaRPr lang="zh-TW" altLang="zh-TW" sz="1050" dirty="0">
              <a:solidFill>
                <a:srgbClr val="898989"/>
              </a:solidFill>
              <a:latin typeface="Arial" pitchFamily="34" charset="0"/>
              <a:ea typeface="新細明體" pitchFamily="18" charset="-120"/>
            </a:endParaRPr>
          </a:p>
        </p:txBody>
      </p:sp>
      <p:grpSp>
        <p:nvGrpSpPr>
          <p:cNvPr id="27" name="群組 7"/>
          <p:cNvGrpSpPr>
            <a:grpSpLocks noChangeAspect="1"/>
          </p:cNvGrpSpPr>
          <p:nvPr/>
        </p:nvGrpSpPr>
        <p:grpSpPr bwMode="auto">
          <a:xfrm>
            <a:off x="10396312" y="3921213"/>
            <a:ext cx="1624072" cy="2843774"/>
            <a:chOff x="5213142" y="138090"/>
            <a:chExt cx="3741340" cy="6552270"/>
          </a:xfrm>
        </p:grpSpPr>
        <p:sp>
          <p:nvSpPr>
            <p:cNvPr id="28" name="橢圓 27"/>
            <p:cNvSpPr/>
            <p:nvPr/>
          </p:nvSpPr>
          <p:spPr>
            <a:xfrm>
              <a:off x="8054943" y="138090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9" name="橢圓 28"/>
            <p:cNvSpPr/>
            <p:nvPr/>
          </p:nvSpPr>
          <p:spPr>
            <a:xfrm>
              <a:off x="7101499" y="1101808"/>
              <a:ext cx="899539" cy="899695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0" name="橢圓 29"/>
            <p:cNvSpPr/>
            <p:nvPr/>
          </p:nvSpPr>
          <p:spPr>
            <a:xfrm>
              <a:off x="6158163" y="2040253"/>
              <a:ext cx="901224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1" name="橢圓 30"/>
            <p:cNvSpPr/>
            <p:nvPr/>
          </p:nvSpPr>
          <p:spPr>
            <a:xfrm>
              <a:off x="5213142" y="2975329"/>
              <a:ext cx="899539" cy="899695"/>
            </a:xfrm>
            <a:prstGeom prst="ellipse">
              <a:avLst/>
            </a:prstGeom>
            <a:blipFill>
              <a:blip r:embed="rId3">
                <a:lum brigh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2" name="橢圓 31"/>
            <p:cNvSpPr/>
            <p:nvPr/>
          </p:nvSpPr>
          <p:spPr>
            <a:xfrm>
              <a:off x="8054943" y="1101808"/>
              <a:ext cx="899539" cy="899695"/>
            </a:xfrm>
            <a:prstGeom prst="ellipse">
              <a:avLst/>
            </a:prstGeom>
            <a:blipFill>
              <a:blip r:embed="rId4">
                <a:lum brigh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3" name="橢圓 32"/>
            <p:cNvSpPr/>
            <p:nvPr/>
          </p:nvSpPr>
          <p:spPr>
            <a:xfrm>
              <a:off x="7101499" y="2040253"/>
              <a:ext cx="899539" cy="899695"/>
            </a:xfrm>
            <a:prstGeom prst="ellipse">
              <a:avLst/>
            </a:prstGeom>
            <a:blipFill>
              <a:blip r:embed="rId5">
                <a:lum bright="10000" contrast="2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4" name="橢圓 33"/>
            <p:cNvSpPr/>
            <p:nvPr/>
          </p:nvSpPr>
          <p:spPr>
            <a:xfrm>
              <a:off x="6153110" y="2975329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5" name="橢圓 34"/>
            <p:cNvSpPr/>
            <p:nvPr/>
          </p:nvSpPr>
          <p:spPr>
            <a:xfrm>
              <a:off x="7101499" y="2975329"/>
              <a:ext cx="899539" cy="89969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6" name="橢圓 35"/>
            <p:cNvSpPr/>
            <p:nvPr/>
          </p:nvSpPr>
          <p:spPr>
            <a:xfrm>
              <a:off x="8054943" y="2040253"/>
              <a:ext cx="899539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7" name="橢圓 36"/>
            <p:cNvSpPr/>
            <p:nvPr/>
          </p:nvSpPr>
          <p:spPr>
            <a:xfrm>
              <a:off x="8054943" y="2975329"/>
              <a:ext cx="899539" cy="899695"/>
            </a:xfrm>
            <a:prstGeom prst="ellipse">
              <a:avLst/>
            </a:prstGeom>
            <a:blipFill>
              <a:blip r:embed="rId6" cstate="print">
                <a:lum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8" name="橢圓 37"/>
            <p:cNvSpPr/>
            <p:nvPr/>
          </p:nvSpPr>
          <p:spPr>
            <a:xfrm>
              <a:off x="7101499" y="3915460"/>
              <a:ext cx="899539" cy="899695"/>
            </a:xfrm>
            <a:prstGeom prst="ellipse">
              <a:avLst/>
            </a:prstGeom>
            <a:blipFill>
              <a:blip r:embed="rId7" cstate="print">
                <a:lum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9" name="橢圓 38"/>
            <p:cNvSpPr/>
            <p:nvPr/>
          </p:nvSpPr>
          <p:spPr>
            <a:xfrm>
              <a:off x="8054943" y="3915460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0" name="橢圓 39"/>
            <p:cNvSpPr/>
            <p:nvPr/>
          </p:nvSpPr>
          <p:spPr>
            <a:xfrm>
              <a:off x="7101499" y="4852220"/>
              <a:ext cx="899539" cy="899695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1" name="橢圓 40"/>
            <p:cNvSpPr/>
            <p:nvPr/>
          </p:nvSpPr>
          <p:spPr>
            <a:xfrm>
              <a:off x="7101499" y="5790665"/>
              <a:ext cx="899539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2" name="橢圓 41"/>
            <p:cNvSpPr/>
            <p:nvPr/>
          </p:nvSpPr>
          <p:spPr>
            <a:xfrm>
              <a:off x="8054943" y="4852220"/>
              <a:ext cx="899539" cy="899695"/>
            </a:xfrm>
            <a:prstGeom prst="ellipse">
              <a:avLst/>
            </a:prstGeom>
            <a:blipFill>
              <a:blip r:embed="rId8">
                <a:lum bright="10000"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3" name="橢圓 42"/>
            <p:cNvSpPr/>
            <p:nvPr/>
          </p:nvSpPr>
          <p:spPr>
            <a:xfrm>
              <a:off x="8054943" y="5790665"/>
              <a:ext cx="899539" cy="89969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</p:grpSp>
      <p:pic>
        <p:nvPicPr>
          <p:cNvPr id="46" name="圖片 4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1582" y="1088095"/>
            <a:ext cx="3477746" cy="111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667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94078" y="359558"/>
            <a:ext cx="9492937" cy="613351"/>
          </a:xfrm>
        </p:spPr>
        <p:txBody>
          <a:bodyPr/>
          <a:lstStyle/>
          <a:p>
            <a:pPr>
              <a:tabLst>
                <a:tab pos="5916613" algn="l"/>
              </a:tabLst>
            </a:pPr>
            <a:r>
              <a:rPr lang="zh-TW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綜合損益表</a:t>
            </a: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76725" y="3420269"/>
            <a:ext cx="3638550" cy="1162050"/>
          </a:xfrm>
        </p:spPr>
      </p:pic>
      <p:sp>
        <p:nvSpPr>
          <p:cNvPr id="7" name="圓角矩形 6"/>
          <p:cNvSpPr/>
          <p:nvPr/>
        </p:nvSpPr>
        <p:spPr>
          <a:xfrm>
            <a:off x="694078" y="1375654"/>
            <a:ext cx="9637059" cy="4488926"/>
          </a:xfrm>
          <a:prstGeom prst="roundRect">
            <a:avLst>
              <a:gd name="adj" fmla="val 6017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" name="群組 7"/>
          <p:cNvGrpSpPr>
            <a:grpSpLocks noChangeAspect="1"/>
          </p:cNvGrpSpPr>
          <p:nvPr/>
        </p:nvGrpSpPr>
        <p:grpSpPr bwMode="auto">
          <a:xfrm>
            <a:off x="10476994" y="3818583"/>
            <a:ext cx="1624072" cy="2843774"/>
            <a:chOff x="5213142" y="138090"/>
            <a:chExt cx="3741340" cy="6552270"/>
          </a:xfrm>
        </p:grpSpPr>
        <p:sp>
          <p:nvSpPr>
            <p:cNvPr id="9" name="橢圓 8"/>
            <p:cNvSpPr/>
            <p:nvPr/>
          </p:nvSpPr>
          <p:spPr>
            <a:xfrm>
              <a:off x="8054943" y="138090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7101499" y="1101808"/>
              <a:ext cx="899539" cy="899695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1" name="橢圓 10"/>
            <p:cNvSpPr/>
            <p:nvPr/>
          </p:nvSpPr>
          <p:spPr>
            <a:xfrm>
              <a:off x="6158163" y="2040253"/>
              <a:ext cx="901224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5213142" y="2975329"/>
              <a:ext cx="899539" cy="899695"/>
            </a:xfrm>
            <a:prstGeom prst="ellipse">
              <a:avLst/>
            </a:prstGeom>
            <a:blipFill>
              <a:blip r:embed="rId3">
                <a:lum brigh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8054943" y="1101808"/>
              <a:ext cx="899539" cy="899695"/>
            </a:xfrm>
            <a:prstGeom prst="ellipse">
              <a:avLst/>
            </a:prstGeom>
            <a:blipFill>
              <a:blip r:embed="rId4">
                <a:lum brigh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7101499" y="2040253"/>
              <a:ext cx="899539" cy="899695"/>
            </a:xfrm>
            <a:prstGeom prst="ellipse">
              <a:avLst/>
            </a:prstGeom>
            <a:blipFill>
              <a:blip r:embed="rId5">
                <a:lum bright="10000" contrast="2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6153110" y="2975329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7101499" y="2975329"/>
              <a:ext cx="899539" cy="89969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8054943" y="2040253"/>
              <a:ext cx="899539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8" name="橢圓 17"/>
            <p:cNvSpPr/>
            <p:nvPr/>
          </p:nvSpPr>
          <p:spPr>
            <a:xfrm>
              <a:off x="8054943" y="2975329"/>
              <a:ext cx="899539" cy="899695"/>
            </a:xfrm>
            <a:prstGeom prst="ellipse">
              <a:avLst/>
            </a:prstGeom>
            <a:blipFill>
              <a:blip r:embed="rId6" cstate="print">
                <a:lum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7101499" y="3915460"/>
              <a:ext cx="899539" cy="899695"/>
            </a:xfrm>
            <a:prstGeom prst="ellipse">
              <a:avLst/>
            </a:prstGeom>
            <a:blipFill>
              <a:blip r:embed="rId7" cstate="print">
                <a:lum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8054943" y="3915460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1" name="橢圓 20"/>
            <p:cNvSpPr/>
            <p:nvPr/>
          </p:nvSpPr>
          <p:spPr>
            <a:xfrm>
              <a:off x="7101499" y="4852220"/>
              <a:ext cx="899539" cy="899695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2" name="橢圓 21"/>
            <p:cNvSpPr/>
            <p:nvPr/>
          </p:nvSpPr>
          <p:spPr>
            <a:xfrm>
              <a:off x="7101499" y="5790665"/>
              <a:ext cx="899539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3" name="橢圓 22"/>
            <p:cNvSpPr/>
            <p:nvPr/>
          </p:nvSpPr>
          <p:spPr>
            <a:xfrm>
              <a:off x="8054943" y="4852220"/>
              <a:ext cx="899539" cy="899695"/>
            </a:xfrm>
            <a:prstGeom prst="ellipse">
              <a:avLst/>
            </a:prstGeom>
            <a:blipFill>
              <a:blip r:embed="rId8">
                <a:lum bright="10000"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4" name="橢圓 23"/>
            <p:cNvSpPr/>
            <p:nvPr/>
          </p:nvSpPr>
          <p:spPr>
            <a:xfrm>
              <a:off x="8054943" y="5790665"/>
              <a:ext cx="899539" cy="89969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</p:grpSp>
      <p:sp>
        <p:nvSpPr>
          <p:cNvPr id="26" name="矩形 25"/>
          <p:cNvSpPr/>
          <p:nvPr/>
        </p:nvSpPr>
        <p:spPr>
          <a:xfrm>
            <a:off x="694076" y="5895400"/>
            <a:ext cx="963705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2026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年</a:t>
            </a: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6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月</a:t>
            </a: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30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日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流通在外股數為</a:t>
            </a: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290</a:t>
            </a:r>
            <a:r>
              <a:rPr lang="en-US" altLang="zh-TW" sz="1400" b="0" i="0" u="none" strike="noStrike" baseline="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,463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仟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股</a:t>
            </a:r>
            <a:endParaRPr lang="en-US" altLang="zh-TW" sz="1400" b="0" i="0" u="none" strike="noStrike" baseline="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股東權益報酬率為以母公司股東平均股權計算的年化數據</a:t>
            </a:r>
            <a:endParaRPr lang="en-US" altLang="zh-TW" sz="1400" b="0" i="0" u="none" strike="noStrike" baseline="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28" name="內容版面配置區 4">
            <a:extLst>
              <a:ext uri="{FF2B5EF4-FFF2-40B4-BE49-F238E27FC236}">
                <a16:creationId xmlns:a16="http://schemas.microsoft.com/office/drawing/2014/main" xmlns="" id="{9CEF4C86-AAFF-4711-B75E-3696A66D0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8178" y="295320"/>
            <a:ext cx="1211244" cy="386837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3144" y="1816223"/>
            <a:ext cx="85344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902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圖表 24">
            <a:extLst>
              <a:ext uri="{FF2B5EF4-FFF2-40B4-BE49-F238E27FC236}">
                <a16:creationId xmlns:xdr="http://schemas.openxmlformats.org/drawingml/2006/spreadsheetDrawing" xmlns:a16="http://schemas.microsoft.com/office/drawing/2014/main" xmlns="" xmlns:lc="http://schemas.openxmlformats.org/drawingml/2006/lockedCanvas" id="{00000000-0008-0000-0400-000008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7487482"/>
              </p:ext>
            </p:extLst>
          </p:nvPr>
        </p:nvGraphicFramePr>
        <p:xfrm>
          <a:off x="4874266" y="3793338"/>
          <a:ext cx="5873912" cy="28393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51151" y="304041"/>
            <a:ext cx="10515600" cy="674781"/>
          </a:xfrm>
        </p:spPr>
        <p:txBody>
          <a:bodyPr>
            <a:normAutofit/>
          </a:bodyPr>
          <a:lstStyle/>
          <a:p>
            <a:r>
              <a:rPr lang="en-US" altLang="zh-TW" sz="3600" b="1" dirty="0" smtClean="0">
                <a:solidFill>
                  <a:srgbClr val="C0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2026</a:t>
            </a:r>
            <a:r>
              <a:rPr lang="zh-TW" altLang="en-US" sz="3600" b="1" dirty="0" smtClean="0">
                <a:solidFill>
                  <a:srgbClr val="C0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年第二季</a:t>
            </a:r>
            <a:r>
              <a:rPr lang="zh-TW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銅箔基板銷售分析 </a:t>
            </a:r>
            <a:r>
              <a:rPr lang="en-US" altLang="zh-TW" sz="3600" b="1" dirty="0">
                <a:solidFill>
                  <a:srgbClr val="C0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–</a:t>
            </a:r>
            <a:r>
              <a:rPr lang="zh-TW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技術別</a:t>
            </a:r>
            <a:endParaRPr lang="zh-TW" altLang="en-US" sz="3600" dirty="0">
              <a:solidFill>
                <a:srgbClr val="C00000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grpSp>
        <p:nvGrpSpPr>
          <p:cNvPr id="27" name="群組 26"/>
          <p:cNvGrpSpPr>
            <a:grpSpLocks noChangeAspect="1"/>
          </p:cNvGrpSpPr>
          <p:nvPr/>
        </p:nvGrpSpPr>
        <p:grpSpPr bwMode="auto">
          <a:xfrm>
            <a:off x="10521968" y="4074929"/>
            <a:ext cx="1372335" cy="2628239"/>
            <a:chOff x="5213142" y="138090"/>
            <a:chExt cx="3741340" cy="6552270"/>
          </a:xfrm>
        </p:grpSpPr>
        <p:sp>
          <p:nvSpPr>
            <p:cNvPr id="44" name="橢圓 43"/>
            <p:cNvSpPr/>
            <p:nvPr/>
          </p:nvSpPr>
          <p:spPr>
            <a:xfrm>
              <a:off x="8054943" y="138090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5" name="橢圓 44"/>
            <p:cNvSpPr/>
            <p:nvPr/>
          </p:nvSpPr>
          <p:spPr>
            <a:xfrm>
              <a:off x="7101499" y="1101808"/>
              <a:ext cx="899539" cy="899695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6" name="橢圓 45"/>
            <p:cNvSpPr/>
            <p:nvPr/>
          </p:nvSpPr>
          <p:spPr>
            <a:xfrm>
              <a:off x="6158163" y="2040253"/>
              <a:ext cx="901224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7" name="橢圓 46"/>
            <p:cNvSpPr/>
            <p:nvPr/>
          </p:nvSpPr>
          <p:spPr>
            <a:xfrm>
              <a:off x="5213142" y="2975329"/>
              <a:ext cx="899539" cy="899695"/>
            </a:xfrm>
            <a:prstGeom prst="ellipse">
              <a:avLst/>
            </a:prstGeom>
            <a:blipFill>
              <a:blip r:embed="rId3">
                <a:lum brigh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8" name="橢圓 47"/>
            <p:cNvSpPr/>
            <p:nvPr/>
          </p:nvSpPr>
          <p:spPr>
            <a:xfrm>
              <a:off x="8054943" y="1101808"/>
              <a:ext cx="899539" cy="899695"/>
            </a:xfrm>
            <a:prstGeom prst="ellipse">
              <a:avLst/>
            </a:prstGeom>
            <a:blipFill>
              <a:blip r:embed="rId4">
                <a:lum brigh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9" name="橢圓 48"/>
            <p:cNvSpPr/>
            <p:nvPr/>
          </p:nvSpPr>
          <p:spPr>
            <a:xfrm>
              <a:off x="7101499" y="2040253"/>
              <a:ext cx="899539" cy="899695"/>
            </a:xfrm>
            <a:prstGeom prst="ellipse">
              <a:avLst/>
            </a:prstGeom>
            <a:blipFill>
              <a:blip r:embed="rId5">
                <a:lum bright="10000" contrast="2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50" name="橢圓 49"/>
            <p:cNvSpPr/>
            <p:nvPr/>
          </p:nvSpPr>
          <p:spPr>
            <a:xfrm>
              <a:off x="6153110" y="2975329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51" name="橢圓 50"/>
            <p:cNvSpPr/>
            <p:nvPr/>
          </p:nvSpPr>
          <p:spPr>
            <a:xfrm>
              <a:off x="7101499" y="2975329"/>
              <a:ext cx="899539" cy="89969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52" name="橢圓 51"/>
            <p:cNvSpPr/>
            <p:nvPr/>
          </p:nvSpPr>
          <p:spPr>
            <a:xfrm>
              <a:off x="8054943" y="2040253"/>
              <a:ext cx="899539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53" name="橢圓 52"/>
            <p:cNvSpPr/>
            <p:nvPr/>
          </p:nvSpPr>
          <p:spPr>
            <a:xfrm>
              <a:off x="8054943" y="2975329"/>
              <a:ext cx="899539" cy="899695"/>
            </a:xfrm>
            <a:prstGeom prst="ellipse">
              <a:avLst/>
            </a:prstGeom>
            <a:blipFill>
              <a:blip r:embed="rId6" cstate="print">
                <a:lum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54" name="橢圓 53"/>
            <p:cNvSpPr/>
            <p:nvPr/>
          </p:nvSpPr>
          <p:spPr>
            <a:xfrm>
              <a:off x="7101499" y="3915460"/>
              <a:ext cx="899539" cy="899695"/>
            </a:xfrm>
            <a:prstGeom prst="ellipse">
              <a:avLst/>
            </a:prstGeom>
            <a:blipFill>
              <a:blip r:embed="rId7" cstate="print">
                <a:lum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55" name="橢圓 54"/>
            <p:cNvSpPr/>
            <p:nvPr/>
          </p:nvSpPr>
          <p:spPr>
            <a:xfrm>
              <a:off x="8054943" y="3915460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56" name="橢圓 55"/>
            <p:cNvSpPr/>
            <p:nvPr/>
          </p:nvSpPr>
          <p:spPr>
            <a:xfrm>
              <a:off x="7101499" y="4852220"/>
              <a:ext cx="899539" cy="899695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57" name="橢圓 56"/>
            <p:cNvSpPr/>
            <p:nvPr/>
          </p:nvSpPr>
          <p:spPr>
            <a:xfrm>
              <a:off x="7101499" y="5790665"/>
              <a:ext cx="899539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58" name="橢圓 57"/>
            <p:cNvSpPr/>
            <p:nvPr/>
          </p:nvSpPr>
          <p:spPr>
            <a:xfrm>
              <a:off x="8054943" y="4852220"/>
              <a:ext cx="899539" cy="899695"/>
            </a:xfrm>
            <a:prstGeom prst="ellipse">
              <a:avLst/>
            </a:prstGeom>
            <a:blipFill>
              <a:blip r:embed="rId8">
                <a:lum bright="10000"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59" name="橢圓 58"/>
            <p:cNvSpPr/>
            <p:nvPr/>
          </p:nvSpPr>
          <p:spPr>
            <a:xfrm>
              <a:off x="8054943" y="5790665"/>
              <a:ext cx="899539" cy="89969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</p:grpSp>
      <p:pic>
        <p:nvPicPr>
          <p:cNvPr id="29" name="內容版面配置區 4">
            <a:extLst>
              <a:ext uri="{FF2B5EF4-FFF2-40B4-BE49-F238E27FC236}">
                <a16:creationId xmlns:a16="http://schemas.microsoft.com/office/drawing/2014/main" xmlns="" id="{E4BFDB60-F9A7-4CC3-87AF-3A277734C7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48178" y="295320"/>
            <a:ext cx="1211244" cy="386837"/>
          </a:xfrm>
          <a:prstGeom prst="rect">
            <a:avLst/>
          </a:prstGeom>
        </p:spPr>
      </p:pic>
      <p:graphicFrame>
        <p:nvGraphicFramePr>
          <p:cNvPr id="30" name="圖表 29">
            <a:extLst>
              <a:ext uri="{FF2B5EF4-FFF2-40B4-BE49-F238E27FC236}">
                <a16:creationId xmlns:xdr="http://schemas.openxmlformats.org/drawingml/2006/spreadsheetDrawing" xmlns:a16="http://schemas.microsoft.com/office/drawing/2014/main" xmlns="" xmlns:lc="http://schemas.openxmlformats.org/drawingml/2006/lockedCanvas" id="{00000000-0008-0000-0400-000004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51373640"/>
              </p:ext>
            </p:extLst>
          </p:nvPr>
        </p:nvGraphicFramePr>
        <p:xfrm>
          <a:off x="5039600" y="1231546"/>
          <a:ext cx="5599914" cy="25537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24" name="圖表 23">
            <a:extLst>
              <a:ext uri="{FF2B5EF4-FFF2-40B4-BE49-F238E27FC236}">
                <a16:creationId xmlns:xdr="http://schemas.openxmlformats.org/drawingml/2006/spreadsheetDrawing" xmlns:a16="http://schemas.microsoft.com/office/drawing/2014/main" xmlns="" xmlns:lc="http://schemas.openxmlformats.org/drawingml/2006/lockedCanvas" id="{00000000-0008-0000-04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74630"/>
              </p:ext>
            </p:extLst>
          </p:nvPr>
        </p:nvGraphicFramePr>
        <p:xfrm>
          <a:off x="120786" y="2177561"/>
          <a:ext cx="4846381" cy="34125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</p:spTree>
    <p:extLst>
      <p:ext uri="{BB962C8B-B14F-4D97-AF65-F5344CB8AC3E}">
        <p14:creationId xmlns:p14="http://schemas.microsoft.com/office/powerpoint/2010/main" val="33273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9902" y="424576"/>
            <a:ext cx="10515600" cy="674781"/>
          </a:xfrm>
        </p:spPr>
        <p:txBody>
          <a:bodyPr>
            <a:normAutofit/>
          </a:bodyPr>
          <a:lstStyle/>
          <a:p>
            <a:pPr>
              <a:tabLst>
                <a:tab pos="5916613" algn="l"/>
              </a:tabLst>
            </a:pPr>
            <a:r>
              <a:rPr lang="zh-TW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資產負債表及重要財務指標</a:t>
            </a:r>
            <a:endParaRPr lang="zh-TW" altLang="en-US" sz="3600" dirty="0">
              <a:solidFill>
                <a:srgbClr val="C00000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48178" y="295320"/>
            <a:ext cx="1211244" cy="386837"/>
          </a:xfrm>
          <a:prstGeom prst="rect">
            <a:avLst/>
          </a:prstGeom>
        </p:spPr>
      </p:pic>
      <p:sp>
        <p:nvSpPr>
          <p:cNvPr id="7" name="圓角矩形 6"/>
          <p:cNvSpPr/>
          <p:nvPr/>
        </p:nvSpPr>
        <p:spPr>
          <a:xfrm>
            <a:off x="809405" y="1180412"/>
            <a:ext cx="9336055" cy="4987305"/>
          </a:xfrm>
          <a:prstGeom prst="roundRect">
            <a:avLst>
              <a:gd name="adj" fmla="val 6017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" name="群組 7"/>
          <p:cNvGrpSpPr>
            <a:grpSpLocks noChangeAspect="1"/>
          </p:cNvGrpSpPr>
          <p:nvPr/>
        </p:nvGrpSpPr>
        <p:grpSpPr bwMode="auto">
          <a:xfrm>
            <a:off x="10476994" y="3818583"/>
            <a:ext cx="1624072" cy="2843774"/>
            <a:chOff x="5213142" y="138090"/>
            <a:chExt cx="3741340" cy="6552270"/>
          </a:xfrm>
        </p:grpSpPr>
        <p:sp>
          <p:nvSpPr>
            <p:cNvPr id="9" name="橢圓 8"/>
            <p:cNvSpPr/>
            <p:nvPr/>
          </p:nvSpPr>
          <p:spPr>
            <a:xfrm>
              <a:off x="8054943" y="138090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7101499" y="1101808"/>
              <a:ext cx="899539" cy="899695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1" name="橢圓 10"/>
            <p:cNvSpPr/>
            <p:nvPr/>
          </p:nvSpPr>
          <p:spPr>
            <a:xfrm>
              <a:off x="6158163" y="2040253"/>
              <a:ext cx="901224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5213142" y="2975329"/>
              <a:ext cx="899539" cy="899695"/>
            </a:xfrm>
            <a:prstGeom prst="ellipse">
              <a:avLst/>
            </a:prstGeom>
            <a:blipFill>
              <a:blip r:embed="rId3">
                <a:lum brigh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8054943" y="1101808"/>
              <a:ext cx="899539" cy="899695"/>
            </a:xfrm>
            <a:prstGeom prst="ellipse">
              <a:avLst/>
            </a:prstGeom>
            <a:blipFill>
              <a:blip r:embed="rId4">
                <a:lum brigh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7101499" y="2040253"/>
              <a:ext cx="899539" cy="899695"/>
            </a:xfrm>
            <a:prstGeom prst="ellipse">
              <a:avLst/>
            </a:prstGeom>
            <a:blipFill>
              <a:blip r:embed="rId5">
                <a:lum bright="10000" contrast="2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6153110" y="2975329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7101499" y="2975329"/>
              <a:ext cx="899539" cy="89969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8054943" y="2040253"/>
              <a:ext cx="899539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8" name="橢圓 17"/>
            <p:cNvSpPr/>
            <p:nvPr/>
          </p:nvSpPr>
          <p:spPr>
            <a:xfrm>
              <a:off x="8054943" y="2975329"/>
              <a:ext cx="899539" cy="899695"/>
            </a:xfrm>
            <a:prstGeom prst="ellipse">
              <a:avLst/>
            </a:prstGeom>
            <a:blipFill>
              <a:blip r:embed="rId6" cstate="print">
                <a:lum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7101499" y="3915460"/>
              <a:ext cx="899539" cy="899695"/>
            </a:xfrm>
            <a:prstGeom prst="ellipse">
              <a:avLst/>
            </a:prstGeom>
            <a:blipFill>
              <a:blip r:embed="rId7" cstate="print">
                <a:lum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8054943" y="3915460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1" name="橢圓 20"/>
            <p:cNvSpPr/>
            <p:nvPr/>
          </p:nvSpPr>
          <p:spPr>
            <a:xfrm>
              <a:off x="7101499" y="4852220"/>
              <a:ext cx="899539" cy="899695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2" name="橢圓 21"/>
            <p:cNvSpPr/>
            <p:nvPr/>
          </p:nvSpPr>
          <p:spPr>
            <a:xfrm>
              <a:off x="7101499" y="5790665"/>
              <a:ext cx="899539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3" name="橢圓 22"/>
            <p:cNvSpPr/>
            <p:nvPr/>
          </p:nvSpPr>
          <p:spPr>
            <a:xfrm>
              <a:off x="8054943" y="4852220"/>
              <a:ext cx="899539" cy="899695"/>
            </a:xfrm>
            <a:prstGeom prst="ellipse">
              <a:avLst/>
            </a:prstGeom>
            <a:blipFill>
              <a:blip r:embed="rId8">
                <a:lum bright="10000"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4" name="橢圓 23"/>
            <p:cNvSpPr/>
            <p:nvPr/>
          </p:nvSpPr>
          <p:spPr>
            <a:xfrm>
              <a:off x="8054943" y="5790665"/>
              <a:ext cx="899539" cy="89969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</p:grpSp>
      <p:sp>
        <p:nvSpPr>
          <p:cNvPr id="3" name="矩形 2"/>
          <p:cNvSpPr/>
          <p:nvPr/>
        </p:nvSpPr>
        <p:spPr>
          <a:xfrm>
            <a:off x="872156" y="6205507"/>
            <a:ext cx="69924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2026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年</a:t>
            </a: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6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月</a:t>
            </a: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30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日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流通在外股數為</a:t>
            </a:r>
            <a:r>
              <a:rPr lang="en-US" altLang="zh-TW" sz="1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290,463</a:t>
            </a:r>
            <a:r>
              <a:rPr lang="zh-TW" altLang="en-US" sz="1400" dirty="0" smtClean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仟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股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資產生產力 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= 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年化營業收入淨額 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/ 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平均不動產、廠房及設備淨額</a:t>
            </a:r>
            <a:endParaRPr lang="en-US" altLang="zh-TW" sz="1400" b="0" i="0" u="none" strike="noStrike" baseline="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4339" y="1388064"/>
            <a:ext cx="8162925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510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333334" y="529984"/>
            <a:ext cx="7384336" cy="674781"/>
          </a:xfrm>
        </p:spPr>
        <p:txBody>
          <a:bodyPr>
            <a:normAutofit/>
          </a:bodyPr>
          <a:lstStyle/>
          <a:p>
            <a:pPr>
              <a:tabLst>
                <a:tab pos="5916613" algn="l"/>
              </a:tabLst>
            </a:pPr>
            <a:r>
              <a:rPr lang="zh-TW" altLang="en-US" sz="3600" b="1" dirty="0">
                <a:solidFill>
                  <a:srgbClr val="C00000"/>
                </a:solidFill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現金流量表</a:t>
            </a:r>
            <a:endParaRPr lang="zh-TW" altLang="en-US" sz="3600" dirty="0">
              <a:solidFill>
                <a:srgbClr val="C00000"/>
              </a:solidFill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48178" y="295320"/>
            <a:ext cx="1211244" cy="386837"/>
          </a:xfrm>
          <a:prstGeom prst="rect">
            <a:avLst/>
          </a:prstGeom>
        </p:spPr>
      </p:pic>
      <p:sp>
        <p:nvSpPr>
          <p:cNvPr id="7" name="圓角矩形 6"/>
          <p:cNvSpPr/>
          <p:nvPr/>
        </p:nvSpPr>
        <p:spPr>
          <a:xfrm>
            <a:off x="1333334" y="1394458"/>
            <a:ext cx="8274424" cy="3952322"/>
          </a:xfrm>
          <a:prstGeom prst="roundRect">
            <a:avLst>
              <a:gd name="adj" fmla="val 6017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" name="群組 7"/>
          <p:cNvGrpSpPr>
            <a:grpSpLocks noChangeAspect="1"/>
          </p:cNvGrpSpPr>
          <p:nvPr/>
        </p:nvGrpSpPr>
        <p:grpSpPr bwMode="auto">
          <a:xfrm>
            <a:off x="10476994" y="3818583"/>
            <a:ext cx="1624072" cy="2843774"/>
            <a:chOff x="5213142" y="138090"/>
            <a:chExt cx="3741340" cy="6552270"/>
          </a:xfrm>
        </p:grpSpPr>
        <p:sp>
          <p:nvSpPr>
            <p:cNvPr id="9" name="橢圓 8"/>
            <p:cNvSpPr/>
            <p:nvPr/>
          </p:nvSpPr>
          <p:spPr>
            <a:xfrm>
              <a:off x="8054943" y="138090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7101499" y="1101808"/>
              <a:ext cx="899539" cy="899695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1" name="橢圓 10"/>
            <p:cNvSpPr/>
            <p:nvPr/>
          </p:nvSpPr>
          <p:spPr>
            <a:xfrm>
              <a:off x="6158163" y="2040253"/>
              <a:ext cx="901224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5213142" y="2975329"/>
              <a:ext cx="899539" cy="899695"/>
            </a:xfrm>
            <a:prstGeom prst="ellipse">
              <a:avLst/>
            </a:prstGeom>
            <a:blipFill>
              <a:blip r:embed="rId3">
                <a:lum brigh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8054943" y="1101808"/>
              <a:ext cx="899539" cy="899695"/>
            </a:xfrm>
            <a:prstGeom prst="ellipse">
              <a:avLst/>
            </a:prstGeom>
            <a:blipFill>
              <a:blip r:embed="rId4">
                <a:lum brigh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7101499" y="2040253"/>
              <a:ext cx="899539" cy="899695"/>
            </a:xfrm>
            <a:prstGeom prst="ellipse">
              <a:avLst/>
            </a:prstGeom>
            <a:blipFill>
              <a:blip r:embed="rId5">
                <a:lum bright="10000" contrast="2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5" name="橢圓 14"/>
            <p:cNvSpPr/>
            <p:nvPr/>
          </p:nvSpPr>
          <p:spPr>
            <a:xfrm>
              <a:off x="6153110" y="2975329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6" name="橢圓 15"/>
            <p:cNvSpPr/>
            <p:nvPr/>
          </p:nvSpPr>
          <p:spPr>
            <a:xfrm>
              <a:off x="7101499" y="2975329"/>
              <a:ext cx="899539" cy="89969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7" name="橢圓 16"/>
            <p:cNvSpPr/>
            <p:nvPr/>
          </p:nvSpPr>
          <p:spPr>
            <a:xfrm>
              <a:off x="8054943" y="2040253"/>
              <a:ext cx="899539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8" name="橢圓 17"/>
            <p:cNvSpPr/>
            <p:nvPr/>
          </p:nvSpPr>
          <p:spPr>
            <a:xfrm>
              <a:off x="8054943" y="2975329"/>
              <a:ext cx="899539" cy="899695"/>
            </a:xfrm>
            <a:prstGeom prst="ellipse">
              <a:avLst/>
            </a:prstGeom>
            <a:blipFill>
              <a:blip r:embed="rId6" cstate="print">
                <a:lum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9" name="橢圓 18"/>
            <p:cNvSpPr/>
            <p:nvPr/>
          </p:nvSpPr>
          <p:spPr>
            <a:xfrm>
              <a:off x="7101499" y="3915460"/>
              <a:ext cx="899539" cy="899695"/>
            </a:xfrm>
            <a:prstGeom prst="ellipse">
              <a:avLst/>
            </a:prstGeom>
            <a:blipFill>
              <a:blip r:embed="rId7" cstate="print">
                <a:lum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0" name="橢圓 19"/>
            <p:cNvSpPr/>
            <p:nvPr/>
          </p:nvSpPr>
          <p:spPr>
            <a:xfrm>
              <a:off x="8054943" y="3915460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1" name="橢圓 20"/>
            <p:cNvSpPr/>
            <p:nvPr/>
          </p:nvSpPr>
          <p:spPr>
            <a:xfrm>
              <a:off x="7101499" y="4852220"/>
              <a:ext cx="899539" cy="899695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2" name="橢圓 21"/>
            <p:cNvSpPr/>
            <p:nvPr/>
          </p:nvSpPr>
          <p:spPr>
            <a:xfrm>
              <a:off x="7101499" y="5790665"/>
              <a:ext cx="899539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3" name="橢圓 22"/>
            <p:cNvSpPr/>
            <p:nvPr/>
          </p:nvSpPr>
          <p:spPr>
            <a:xfrm>
              <a:off x="8054943" y="4852220"/>
              <a:ext cx="899539" cy="899695"/>
            </a:xfrm>
            <a:prstGeom prst="ellipse">
              <a:avLst/>
            </a:prstGeom>
            <a:blipFill>
              <a:blip r:embed="rId8">
                <a:lum bright="10000"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4" name="橢圓 23"/>
            <p:cNvSpPr/>
            <p:nvPr/>
          </p:nvSpPr>
          <p:spPr>
            <a:xfrm>
              <a:off x="8054943" y="5790665"/>
              <a:ext cx="899539" cy="89969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</p:grpSp>
      <p:sp>
        <p:nvSpPr>
          <p:cNvPr id="3" name="矩形 2"/>
          <p:cNvSpPr/>
          <p:nvPr/>
        </p:nvSpPr>
        <p:spPr>
          <a:xfrm>
            <a:off x="1333334" y="5401531"/>
            <a:ext cx="699247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1400" dirty="0"/>
              <a:t>*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自由現金流量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= 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營運活動之現金流入</a:t>
            </a:r>
            <a:r>
              <a:rPr lang="en-US" altLang="zh-TW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–</a:t>
            </a:r>
            <a:r>
              <a:rPr lang="zh-TW" altLang="en-US" sz="1400" dirty="0">
                <a:latin typeface="Arial" panose="020B0604020202020204" pitchFamily="34" charset="0"/>
                <a:ea typeface="微軟正黑體" panose="020B0604030504040204" pitchFamily="34" charset="-120"/>
                <a:cs typeface="Arial" panose="020B0604020202020204" pitchFamily="34" charset="0"/>
              </a:rPr>
              <a:t>資本支出</a:t>
            </a:r>
            <a:endParaRPr lang="en-US" altLang="zh-TW" sz="1400" b="0" i="0" u="none" strike="noStrike" baseline="0" dirty="0">
              <a:latin typeface="Arial" panose="020B060402020202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76977" y="1841856"/>
            <a:ext cx="6515100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536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30" descr="www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30937" y="5811384"/>
            <a:ext cx="935038" cy="935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Text Box 2"/>
          <p:cNvSpPr txBox="1">
            <a:spLocks noChangeArrowheads="1"/>
          </p:cNvSpPr>
          <p:nvPr/>
        </p:nvSpPr>
        <p:spPr bwMode="auto">
          <a:xfrm>
            <a:off x="407893" y="6488971"/>
            <a:ext cx="3590365" cy="306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>
              <a:defRPr/>
            </a:pPr>
            <a:r>
              <a:rPr lang="en-US" altLang="zh-TW" sz="1050" dirty="0">
                <a:solidFill>
                  <a:srgbClr val="898989"/>
                </a:solidFill>
                <a:latin typeface="Arial" pitchFamily="34" charset="0"/>
                <a:ea typeface="新細明體" pitchFamily="18" charset="-120"/>
              </a:rPr>
              <a:t>Copyright © 2012 Taiwan Union Technology Corporation</a:t>
            </a:r>
            <a:endParaRPr lang="zh-TW" altLang="zh-TW" sz="1050" dirty="0">
              <a:solidFill>
                <a:srgbClr val="898989"/>
              </a:solidFill>
              <a:latin typeface="Arial" pitchFamily="34" charset="0"/>
              <a:ea typeface="新細明體" pitchFamily="18" charset="-120"/>
            </a:endParaRPr>
          </a:p>
        </p:txBody>
      </p:sp>
      <p:grpSp>
        <p:nvGrpSpPr>
          <p:cNvPr id="27" name="群組 7"/>
          <p:cNvGrpSpPr>
            <a:grpSpLocks noChangeAspect="1"/>
          </p:cNvGrpSpPr>
          <p:nvPr/>
        </p:nvGrpSpPr>
        <p:grpSpPr bwMode="auto">
          <a:xfrm>
            <a:off x="10396312" y="3921213"/>
            <a:ext cx="1624072" cy="2843774"/>
            <a:chOff x="5213142" y="138090"/>
            <a:chExt cx="3741340" cy="6552270"/>
          </a:xfrm>
        </p:grpSpPr>
        <p:sp>
          <p:nvSpPr>
            <p:cNvPr id="28" name="橢圓 27"/>
            <p:cNvSpPr/>
            <p:nvPr/>
          </p:nvSpPr>
          <p:spPr>
            <a:xfrm>
              <a:off x="8054943" y="138090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9" name="橢圓 28"/>
            <p:cNvSpPr/>
            <p:nvPr/>
          </p:nvSpPr>
          <p:spPr>
            <a:xfrm>
              <a:off x="7101499" y="1101808"/>
              <a:ext cx="899539" cy="899695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0" name="橢圓 29"/>
            <p:cNvSpPr/>
            <p:nvPr/>
          </p:nvSpPr>
          <p:spPr>
            <a:xfrm>
              <a:off x="6158163" y="2040253"/>
              <a:ext cx="901224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1" name="橢圓 30"/>
            <p:cNvSpPr/>
            <p:nvPr/>
          </p:nvSpPr>
          <p:spPr>
            <a:xfrm>
              <a:off x="5213142" y="2975329"/>
              <a:ext cx="899539" cy="899695"/>
            </a:xfrm>
            <a:prstGeom prst="ellipse">
              <a:avLst/>
            </a:prstGeom>
            <a:blipFill>
              <a:blip r:embed="rId3">
                <a:lum brigh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2" name="橢圓 31"/>
            <p:cNvSpPr/>
            <p:nvPr/>
          </p:nvSpPr>
          <p:spPr>
            <a:xfrm>
              <a:off x="8054943" y="1101808"/>
              <a:ext cx="899539" cy="899695"/>
            </a:xfrm>
            <a:prstGeom prst="ellipse">
              <a:avLst/>
            </a:prstGeom>
            <a:blipFill>
              <a:blip r:embed="rId4">
                <a:lum brigh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3" name="橢圓 32"/>
            <p:cNvSpPr/>
            <p:nvPr/>
          </p:nvSpPr>
          <p:spPr>
            <a:xfrm>
              <a:off x="7101499" y="2040253"/>
              <a:ext cx="899539" cy="899695"/>
            </a:xfrm>
            <a:prstGeom prst="ellipse">
              <a:avLst/>
            </a:prstGeom>
            <a:blipFill>
              <a:blip r:embed="rId5">
                <a:lum bright="10000" contrast="2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4" name="橢圓 33"/>
            <p:cNvSpPr/>
            <p:nvPr/>
          </p:nvSpPr>
          <p:spPr>
            <a:xfrm>
              <a:off x="6153110" y="2975329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5" name="橢圓 34"/>
            <p:cNvSpPr/>
            <p:nvPr/>
          </p:nvSpPr>
          <p:spPr>
            <a:xfrm>
              <a:off x="7101499" y="2975329"/>
              <a:ext cx="899539" cy="89969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6" name="橢圓 35"/>
            <p:cNvSpPr/>
            <p:nvPr/>
          </p:nvSpPr>
          <p:spPr>
            <a:xfrm>
              <a:off x="8054943" y="2040253"/>
              <a:ext cx="899539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7" name="橢圓 36"/>
            <p:cNvSpPr/>
            <p:nvPr/>
          </p:nvSpPr>
          <p:spPr>
            <a:xfrm>
              <a:off x="8054943" y="2975329"/>
              <a:ext cx="899539" cy="899695"/>
            </a:xfrm>
            <a:prstGeom prst="ellipse">
              <a:avLst/>
            </a:prstGeom>
            <a:blipFill>
              <a:blip r:embed="rId6" cstate="print">
                <a:lum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8" name="橢圓 37"/>
            <p:cNvSpPr/>
            <p:nvPr/>
          </p:nvSpPr>
          <p:spPr>
            <a:xfrm>
              <a:off x="7101499" y="3915460"/>
              <a:ext cx="899539" cy="899695"/>
            </a:xfrm>
            <a:prstGeom prst="ellipse">
              <a:avLst/>
            </a:prstGeom>
            <a:blipFill>
              <a:blip r:embed="rId7" cstate="print">
                <a:lum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39" name="橢圓 38"/>
            <p:cNvSpPr/>
            <p:nvPr/>
          </p:nvSpPr>
          <p:spPr>
            <a:xfrm>
              <a:off x="8054943" y="3915460"/>
              <a:ext cx="899539" cy="89969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0" name="橢圓 39"/>
            <p:cNvSpPr/>
            <p:nvPr/>
          </p:nvSpPr>
          <p:spPr>
            <a:xfrm>
              <a:off x="7101499" y="4852220"/>
              <a:ext cx="899539" cy="899695"/>
            </a:xfrm>
            <a:prstGeom prst="ellipse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1" name="橢圓 40"/>
            <p:cNvSpPr/>
            <p:nvPr/>
          </p:nvSpPr>
          <p:spPr>
            <a:xfrm>
              <a:off x="7101499" y="5790665"/>
              <a:ext cx="899539" cy="899695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2" name="橢圓 41"/>
            <p:cNvSpPr/>
            <p:nvPr/>
          </p:nvSpPr>
          <p:spPr>
            <a:xfrm>
              <a:off x="8054943" y="4852220"/>
              <a:ext cx="899539" cy="899695"/>
            </a:xfrm>
            <a:prstGeom prst="ellipse">
              <a:avLst/>
            </a:prstGeom>
            <a:blipFill>
              <a:blip r:embed="rId8">
                <a:lum bright="10000" contrast="10000"/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3" name="橢圓 42"/>
            <p:cNvSpPr/>
            <p:nvPr/>
          </p:nvSpPr>
          <p:spPr>
            <a:xfrm>
              <a:off x="8054943" y="5790665"/>
              <a:ext cx="899539" cy="899695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</p:grpSp>
      <p:pic>
        <p:nvPicPr>
          <p:cNvPr id="46" name="圖片 4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04646" y="2425778"/>
            <a:ext cx="4233311" cy="1352000"/>
          </a:xfrm>
          <a:prstGeom prst="rect">
            <a:avLst/>
          </a:prstGeom>
        </p:spPr>
      </p:pic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6243669" y="2809224"/>
            <a:ext cx="4347882" cy="1111989"/>
          </a:xfrm>
        </p:spPr>
        <p:txBody>
          <a:bodyPr>
            <a:normAutofit/>
          </a:bodyPr>
          <a:lstStyle/>
          <a:p>
            <a:r>
              <a:rPr lang="en-US" altLang="zh-TW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https://www.tuc.com.tw</a:t>
            </a:r>
          </a:p>
          <a:p>
            <a:r>
              <a:rPr lang="en-US" altLang="zh-TW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Ivon.Huang@tuc.com.tw</a:t>
            </a:r>
            <a:endParaRPr lang="zh-TW" altLang="en-US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002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1410</TotalTime>
  <Words>135</Words>
  <Application>Microsoft Office PowerPoint</Application>
  <PresentationFormat>寬螢幕</PresentationFormat>
  <Paragraphs>17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3" baseType="lpstr">
      <vt:lpstr>Arial Unicode MS</vt:lpstr>
      <vt:lpstr>微軟正黑體</vt:lpstr>
      <vt:lpstr>新細明體</vt:lpstr>
      <vt:lpstr>Arial</vt:lpstr>
      <vt:lpstr>Calibri</vt:lpstr>
      <vt:lpstr>Calibri Light</vt:lpstr>
      <vt:lpstr>Office 佈景主題</vt:lpstr>
      <vt:lpstr>2026年第二季法人說明會</vt:lpstr>
      <vt:lpstr>綜合損益表</vt:lpstr>
      <vt:lpstr>2026年第二季銅箔基板銷售分析 –技術別</vt:lpstr>
      <vt:lpstr>資產負債表及重要財務指標</vt:lpstr>
      <vt:lpstr>現金流量表</vt:lpstr>
      <vt:lpstr>PowerPoint 簡報</vt:lpstr>
    </vt:vector>
  </TitlesOfParts>
  <Company>TUC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2021 Fourth Quarter Earnings Conference</dc:title>
  <dc:creator>Erin Wang (王彥婷)</dc:creator>
  <cp:lastModifiedBy>Mollie Ku (古玟玲)</cp:lastModifiedBy>
  <cp:revision>201</cp:revision>
  <cp:lastPrinted>2025-05-06T05:12:29Z</cp:lastPrinted>
  <dcterms:created xsi:type="dcterms:W3CDTF">2022-03-01T02:38:21Z</dcterms:created>
  <dcterms:modified xsi:type="dcterms:W3CDTF">2026-07-24T02:47:45Z</dcterms:modified>
</cp:coreProperties>
</file>